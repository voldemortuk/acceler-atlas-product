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338da7f7e_2_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e338da7f7e_2_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(40 sec). They have just come out of hours of AI-strategy + AIQ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with Anshuman. Say it in the first sentence: "You have had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this morning. We are not doing more theory. In the next ninety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minutes you will each build a small AI team — on your own account."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"Build your AI team" is the mental model. Not a chatbot. Not a feature.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colleagues, each with a job, each trained by you.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Tone: warm, fast, confident. The screen is always cast — let it carry.</a:t>
            </a:r>
            <a:endParaRPr/>
          </a:p>
        </p:txBody>
      </p:sp>
      <p:sp>
        <p:nvSpPr>
          <p:cNvPr id="128" name="Google Shape;128;g3e338da7f7e_2_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338da7f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338da7f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● Lead with the telecom credibility: "I ran revenue and marketing for 2 million broadband subscribers at Airtel — churn, retention, the P&amp;L. The world the you lives in is one I've actually operated in."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● Then the breadth in one line: "Growth and lifecycle ops at India scale — Paytm, OYO, Housing, PhysicsWallah."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● Then why you're in THIS room: "And I build AI systems in production — automation and LLM workflows. That's the bridge between what I did and what we're doing today."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● Land it on them, not you: "I'm not here to show you AI in theory. I've sat in the operator's chair. Today we build the agents I wish I'd had."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338da7f7e_2_8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e338da7f7e_2_8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STRUCTURE (60 sec). Walk the three headlines left to right, 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sentence each. Keep it light — this is a map, not content.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SET UP — "First we make sure everyone's environment works. We do this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together, up front, so nothing breaks mid-session."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BUILD 3 AGENTS — "Then you build three AI agents yourself. Not 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demoing — you, on your own account."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SEE ONE RUN — "Then I show you a fourth agent that runs on its 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schedule and delivers before you even ask."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say the fourth thing out loud (it is NOT on the slide, deliberately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— you mention it, no box for it): "And before you leave, we will recap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this means for you, and what you take back to your teams Monday.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is the part that actually matters."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Land the framing and pause on it: "The building is the surface activity.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takes minutes. The thinking underneath — that is what you are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for. So interrupt me. Ask. This only works if it is a conversation."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sets the expectation that the room talks. Mean it.</a:t>
            </a:r>
            <a:endParaRPr/>
          </a:p>
        </p:txBody>
      </p:sp>
      <p:sp>
        <p:nvSpPr>
          <p:cNvPr id="148" name="Google Shape;148;g3e338da7f7e_2_8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338da7f7e_2_1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g3e338da7f7e_2_1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HOUSE RULES (60 sec). Three labels on screen; you say the rest.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BE MARKO, NOT A SPECTATOR — You are building this on your own screen. Try things. Break things."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"Quick one before we start — who here has actually built anything with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AI, versus used ChatGPT a few times? Honest hands."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Goal: get one human voice into the room in the first five minutes. 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they stay warm. Online + conservative + 15+ yrs telco + 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prompting fluency — do NOT assume they know prompting; do NOT lecture;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pull them in by name, gently, early.</a:t>
            </a:r>
            <a:endParaRPr/>
          </a:p>
        </p:txBody>
      </p:sp>
      <p:sp>
        <p:nvSpPr>
          <p:cNvPr id="164" name="Google Shape;164;g3e338da7f7e_2_1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338da7f7e_2_1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3e338da7f7e_2_1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SEPARATOR (15 sec). Full-stop beat. "Before any of the interesting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stuff — we get everyone's environment working. This is the part people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skip and regret. We do not skip it."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the rule out loud: "We do not move past setup until everyone is in.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are stuck, say so now — not in twenty minutes." Then advance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steps.</a:t>
            </a:r>
            <a:endParaRPr/>
          </a:p>
        </p:txBody>
      </p:sp>
      <p:sp>
        <p:nvSpPr>
          <p:cNvPr id="178" name="Google Shape;178;g3e338da7f7e_2_1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338da7f7e_2_1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g3e338da7f7e_2_1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SETUP STEPS (run live, up to ~20 min total — do not rush).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1 — VM details: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"Everyone needs two things: a VM URL, and a user ID + password. They 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an email from the Operations team. Open your mail and look for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immediately de-risk it: "It often lands in spam — check there. If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genuinely cannot find it, do not sit quietly: send your email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to Anshuman right now in the chat, and he forwards yours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straight away." Wait. Watch the room/chat. This is the #1 place people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stuck — handle it patiently. The morning's download scare is exactly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setup is up front.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2 — Log in: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"Open the browser. Paste the VM URL. Sign in with the user ID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password from that email." Walk it on the cast screen as you say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the two screenshots on the next slides show exactly what they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see. Use them to confirm: "Your screen should look like this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thumbs up in the room, or a yes in chat, when you are in."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 advance until the room confirms. Name a couple of people if it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quiet: "X, are you in? Y?"</a:t>
            </a:r>
            <a:endParaRPr/>
          </a:p>
        </p:txBody>
      </p:sp>
      <p:sp>
        <p:nvSpPr>
          <p:cNvPr id="188" name="Google Shape;188;g3e338da7f7e_2_1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338da7f7e_2_1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g3e338da7f7e_2_1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SCREENSHOT 1 (paste image before the session).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Caption while pointing: "This is the login screen you should be on 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pasting the URL. Enter the user ID and password from the Ops email here."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Confirm hands/chat before moving on.</a:t>
            </a:r>
            <a:endParaRPr/>
          </a:p>
        </p:txBody>
      </p:sp>
      <p:sp>
        <p:nvSpPr>
          <p:cNvPr id="202" name="Google Shape;202;g3e338da7f7e_2_1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338da7f7e_2_1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g3e338da7f7e_2_1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SCREENSHOT 1 (paste image before the session).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Caption while pointing: "This is the login screen you should be on 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pasting the URL. Enter the user ID and password from the Ops email here."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Confirm hands/chat before moving on.</a:t>
            </a:r>
            <a:endParaRPr/>
          </a:p>
        </p:txBody>
      </p:sp>
      <p:sp>
        <p:nvSpPr>
          <p:cNvPr id="211" name="Google Shape;211;g3e338da7f7e_2_1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338da7f7e_2_1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e338da7f7e_2_1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SCREENSHOT 1 (paste image before the session).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Caption while pointing: "This is the login screen you should be on 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pasting the URL. Enter the user ID and password from the Ops email here."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Confirm hands/chat before moving on.</a:t>
            </a:r>
            <a:endParaRPr/>
          </a:p>
        </p:txBody>
      </p:sp>
      <p:sp>
        <p:nvSpPr>
          <p:cNvPr id="220" name="Google Shape;220;g3e338da7f7e_2_1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338da7f7e_2_1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g3e338da7f7e_2_1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SCREENSHOT 1 (paste image before the session).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Caption while pointing: "This is the login screen you should be on after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pasting the URL. Enter the user ID and password from the Ops email here."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Confirm hands/chat before moving on.</a:t>
            </a:r>
            <a:endParaRPr/>
          </a:p>
        </p:txBody>
      </p:sp>
      <p:sp>
        <p:nvSpPr>
          <p:cNvPr id="229" name="Google Shape;229;g3e338da7f7e_2_1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338da7f7e_2_1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g3e338da7f7e_2_1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SCREENSHOT 2 (paste image before the session).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Caption: "Once you are in, you land on a Windows desktop — this. If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this, you are set. If you do not, flag it now."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cue to confirm EVERYONE is in before introducing Marko. Do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sweep: "Anyone still not on this screen? Last call."</a:t>
            </a:r>
            <a:endParaRPr/>
          </a:p>
        </p:txBody>
      </p:sp>
      <p:sp>
        <p:nvSpPr>
          <p:cNvPr id="238" name="Google Shape;238;g3e338da7f7e_2_1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338da7f7e_2_1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e338da7f7e_2_1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SEPARATOR (20 sec). The pivot from setup into the scenario. Slow down.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"You are all looking at a desktop. Inbox, calendar, files. Whose is it?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yours. For the next ninety minutes, you are Marko Petrov — and we 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going to build him an AI team." Then advance to the bio.</a:t>
            </a:r>
            <a:endParaRPr/>
          </a:p>
        </p:txBody>
      </p:sp>
      <p:sp>
        <p:nvSpPr>
          <p:cNvPr id="247" name="Google Shape;247;g3e338da7f7e_2_1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338da7f7e_2_18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g3e338da7f7e_2_18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MEET MARKO (90 sec). They have read the pre-read; this is the recap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moment to make them connect it to themselves.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 the profile at pace — names matter, Lena Maric (his boss) comes back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Meeting Prep build.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INTERACTIVITY (do this — exactly the kind of beat the session needs):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reading the four priorities, ask the room: "Look at Marko's week.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competitor just attacked on price. A network problem that will not die.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tender deadline. A plan due to your boss. Honestly — how different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from YOUR week?" Pause. Take one or two answers; online, call a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warmly: "X, does that look like your Monday?" The point lands harder from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their mouth than yours.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 the four chips, 5 seconds each. These four threads are exactly what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agents surface later — name them now so the output has meaning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being text on a screen.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Marko is a STRUCTURED person — say this, it sets up the next slide: 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writes things down, he keeps his priorities and brand guidance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documented. That discipline is why an agent can actually help him.</a:t>
            </a:r>
            <a:endParaRPr/>
          </a:p>
        </p:txBody>
      </p:sp>
      <p:sp>
        <p:nvSpPr>
          <p:cNvPr id="257" name="Google Shape;257;g3e338da7f7e_2_18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338da7f7e_2_19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g3e338da7f7e_2_19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MARKO'S M365 (90 sec). Switch to the cast screen and walk it live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slide is just the map. Script: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"Open Microsoft Edge. You will see shortcuts. Click the first one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Microsoft 365."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INBOX: open it. "This is Marko's inbox. Look — it is not empty. Real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threads: the MTS pricing move, the government tender, the Niš network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problem, his boss asking for things. This is a real working week."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(Data reality, say it lightly so it never derails later: "Some mails say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'[Draft] sent' or 'Undeliverable' — that is just how we populated this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 Microsoft's API. Ignore the labels; the content is what matters.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Teams is quiet on purpose — you will see why that is a good thing.")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CALENDAR: "Two full weeks, populated. Meetings he has to walk into,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including a 1:1 with Lena."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ONEDRIVE: "And his OneDrive — Marko is a structured person. He has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written down his brand guidelines and his priorities. That documentation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exactly what makes an agent able to work for him."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Land the bottom line: "This is the whole idea. An agent is only as good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what it can read. So we gave it a real world to read." Then advance 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build separator.</a:t>
            </a:r>
            <a:endParaRPr/>
          </a:p>
        </p:txBody>
      </p:sp>
      <p:sp>
        <p:nvSpPr>
          <p:cNvPr id="273" name="Google Shape;273;g3e338da7f7e_2_19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338da7f7e_2_2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e338da7f7e_2_2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SEPARATOR + AGENT BACKGROUND (60 sec). Before the first build, 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THINK about these agents — keep it short, do not re-teach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theory they had this morning.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"Three agents. Think of each one not as a tool, but as a colleague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hire and train once. Marko's market analyst. Marko's meeting-prep person.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Marko's catch-up person. The first ten minutes you spend telling each 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Marko works is the whole value — same as onboarding a new chief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staff."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"We build them in order, in the doc in front of you. I will pull these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back for a minute between each one to step back. The building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happens in the Companion — let's open it."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[HANDS OFF TO THE COMPANION HERE. The rest of the deck — the per-agent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framing / 'while it runs' narration / recaps / autonomous demo / cascade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close — is the v2 back half, unchanged. This v3 file is the FRONT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alignment pass only.]</a:t>
            </a:r>
            <a:endParaRPr/>
          </a:p>
        </p:txBody>
      </p:sp>
      <p:sp>
        <p:nvSpPr>
          <p:cNvPr id="290" name="Google Shape;290;g3e338da7f7e_2_2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338da7f7e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-&gt; AGENT (90 sec). Do NOT jump to "here are three agents". Frame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PROBLEM first, then reveal the agent as the answer. Walk each column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 (problem) to bottom (agent).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STAYING CURRENT -&gt; YETTEL MARKET PULSE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"Every week, Marko has to know what just moved in the Serbian market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before a leadership meeting — competitor pricing, the regulator,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press. Today that means twenty browser tabs and still feeling behind.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That is a recurring, repetitive job. The agent that takes it: Market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Pulse."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WALKING IN COLD -&gt; YETTEL MEETING PREP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"Ten minutes before every meeting, Marko needs to know who is in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room, what was last said, what is open. He preps in the corridor. That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is repetitive. The agent that takes it: Meeting Prep."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FALLING BEHIND -&gt; YETTEL CATCH-UP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"Things he has been away from — the Niš problem, a thread that went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quiet — pile up until they reach his desk. He scrambles to catch up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before the next conversation. Repetitive. The agent that takes it: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Catch-Up."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Anchor the principle: "Notice — we did not start with the tool. We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started with the repetitive thing the tool removes. That is how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 what to build: find the job you keep doing badly because nobody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time to do it well."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there is a fourth, production-grade autonomous agent. We are NOT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covering it today by decision — do not mention it here.</a:t>
            </a:r>
            <a:endParaRPr/>
          </a:p>
        </p:txBody>
      </p:sp>
      <p:sp>
        <p:nvSpPr>
          <p:cNvPr id="299" name="Google Shape;299;g3e338da7f7e_2_2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338da7f7e_2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FIVE CONTEXT FILES (90 sec). The slide shows ONLY the five file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 + a one-line hint. Everything operational goes here, in notes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on screen.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THIS LIVE: switch to the cast screen and open the shared OneDrive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folder. Show the five actual files sitting there. "These five files 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Marko's world. They live in a shared folder every one of you can see —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OneDrive on your screen, you have them too."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Walk the five by name (point at each file):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Competitor Pricing — current MTS, A1, Globaltel tariffs and promos.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Strategic Priorities — Marko's six 2026 priorities and risk register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(this is the file that tells an agent WHY something matters).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RATEL Bulletin — the Serbian regulator's recent positions.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Q1 Commercial Review — last quarter's performance vs plan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(the "what changed since last time" file).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Brand Voice Notes — how Yettel sounds; words to use and avoid.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CRITICAL — speaker notes only, do NOT put on screen and do NOT say it 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rule up front: each agent gets only the 2-3 files relevant to its job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(Market Pulse: 01 + 03; Meeting Prep: 02 + 05; Catch-Up: 02 + 04 + 05).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will show this naturally when you build each agent. The teaching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 lands better in the build than as an abstract rule here. If asked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"does every agent read all five?": "No — and that is the discipline.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Loading the wrong files makes an agent noisier, not smarter. You will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me give each agent only what it needs."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Anchor: "An agent is only as good as what it can read. Files are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lens. Give it the wrong lens and the answer blurs."</a:t>
            </a:r>
            <a:endParaRPr/>
          </a:p>
        </p:txBody>
      </p:sp>
      <p:sp>
        <p:nvSpPr>
          <p:cNvPr id="318" name="Google Shape;318;g3e338da7f7e_2_2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338da7f7e_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 THE COMPANION (30 sec on the slide; then the whole build runs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the doc + these notes).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Say: "From here we stop looking at slides and start building. Open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Workshop Companion — it is one of your tabs. Everything for each agent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in there: the name, the description, the instructions, the toggles.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build it together, on screen, one agent at a time. I will not bring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slides back — from here the doc is the script and I will talk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 every step."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Mechanics (online): you cast your screen, switch your browser tab from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deck to Copilot + the Companion. Tell them explicitly to follow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Companion on their own screen as you build on yours.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=== BUILD GUIDANCE — the section the user runs entirely from notes ===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user omitted a separate "what the agents do" section by choice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covers it through these notes while building. Cover, in order: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1 — STOCK RESEARCHER (the bar). Run Microsoft's built-in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Researcher on a Yettel market question. It takes 5-7 min — do NOT wait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silence: narrate the trace (how it searches, picks sources). Truth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bomb: "almost nobody watches this; the thinking is the insight." Point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out: it answered with no Yettel context, never asked for a city/window.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"This is the bar. Now we build one that clears it."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2 — YETTEL MARKET PULSE (first build). Build the six fields from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Companion. Toggles: web search ON + the 2 files (01 + 03). Test 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deliberately vaguely ("give me a market briefing"). It will REFUSE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for a city + time window — pause and name it: "that refusal is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whole point; we told it never to run sloppy." Interactive beat: ask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room "I don't know any Serbian city but Belgrade — how did we even write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prompt?" Don't rescue them; then reveal Prompt Coach (an LLM writes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prompt for the LLM). Recap: same question as stock, completely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answer.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3 — STOCK COPILOT CHAT, THEN MEETING PREP. First run default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Copilot Chat on "prep me for my 1:1 with Lena" — it is competent but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disclaims its own suggestions ("prompts are mine, template"). That gap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point. Then build Meeting Prep (files 02 + 05 + Outlook + Teams).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Two-prompt pattern: first a calendar-grounded brief; the agent offers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scan email/Teams; say yes; second response names specifics and gives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"updated read". Honest gaps: "No Teams activity found" if Teams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empty — that is good, not a bug.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4 — YETTEL CATCH-UP. Same recipe (files 02 + 04 + 05 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Outlook/Teams). One prompt: "catch me up on Niš." Same plumbing 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Meeting Prep, different question -&gt; different output. Point at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"what's stuck" section naming the Ericsson blocker — that is reasoning,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retrieval. (Flexible: if discussion ran long, demo this instead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 build.)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REALITIES (pre-empt lightly, do not let them derail a demo):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emails say "[Draft] sent" or "Undeliverable" — artefacts of how we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populated the inbox via Microsoft's API; ignore the labels. Teams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intentionally quiet — that is why "No Teams activity found" is honest,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broken.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 (verbal, no slide): recap the three agents by name; name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lessons (asks before it runs / reads your real world / stock vs yours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conversation / honest gaps); land the cascade — what you do Monday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own account, what you ask your tech teams, what you change for your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non-tech teams. If asked about pricing/next steps: stay neutral, take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offline.</a:t>
            </a:r>
            <a:endParaRPr/>
          </a:p>
        </p:txBody>
      </p:sp>
      <p:sp>
        <p:nvSpPr>
          <p:cNvPr id="340" name="Google Shape;340;g3e338da7f7e_2_2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338da7f7e_2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Slides stop here — from now we're live in the tool; the Companion is their build guide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Six blocks, every block reads the same way once you've built 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Walk the 4-part shape: The Agent / Build Steps / Test It / What Good Looks Like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Say the toggle rule ONCE, here: Market Pulse = web ON + files; Meeting Prep &amp; Catch-Up = web OFF, sources only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ASK: "Who has actually opened Agent Builder before today?" (hands — calibrate pace)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HAND-OFF: this comes straight off slide 17 "Open the Companion".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(on the VM)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M365 Copilot open. Companion open in a 2nd browser tab.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Show Create → New agent → Configure so they see where every build starts.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THE ASK: mixed-fluency room — assume most have NOT used Agent Builder.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Pace accordingly.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Do NOT teach prompt engineering yet — it lands naturally in Block 2.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"Why not just use ChatGPT?" → park it: "That's exactly what Block 1 answers. 90 seconds."</a:t>
            </a:r>
            <a:endParaRPr/>
          </a:p>
        </p:txBody>
      </p:sp>
      <p:sp>
        <p:nvSpPr>
          <p:cNvPr id="349" name="Google Shape;349;g3e338da7f7e_2_2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338da7f7e_2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Frame BEFORE clicking: "We start building — but the FIRST one is a stock agent we don't build. Why? So you feel generic vs custom, and see how we nudge a custom agent."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Run it live: Agents → Researcher → fresh chat → Serbian-market prompt; narrate the citations ("this IS good for generic")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 while it runs: "What's it NOT going to know about us?" (let them answer — primes the gaps)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Land the 4 gaps: doesn't know Yettel · doesn't use our priorities · doesn't tell YOU what to do · didn't ASK anything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Truth-bomb: "Stock is competent but generic. Custom is how teams stop sounding the same." This is the BAR.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1 · STOCK RESEARCHER · ~5 min · NO BUILD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FRAME LINE (verbatim, this is the one you asked for):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"We now start building. But the very first one is a STOCK agent — 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already ships in Copilot. We're not building it. Why? So you can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feel the difference between generic and custom — and see how we nudge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 agent's behaviour. You need the baseline in your body first."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DO: Sidebar → Agents → Researcher. FRESH chat. Model = Auto. Paste: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"What is happening in the Serbian mobile market right now?"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WATCH: don't over-dwell. The next four agents clear this bar — move on.</a:t>
            </a:r>
            <a:endParaRPr/>
          </a:p>
        </p:txBody>
      </p:sp>
      <p:sp>
        <p:nvSpPr>
          <p:cNvPr id="360" name="Google Shape;360;g3e338da7f7e_2_2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e338da7f7e_2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"Stock is competent — but generic."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"A Yettel question deserves a Yettel answer."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"That's the bar. Watch the next agent clear it."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BRIDGE: "Now we build the one that knows who Yettel is — Market Pulse." → slide 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1 RECAP · ~30 sec · mirrors the Companion's orange box.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WATCH: this is a 30-second pivot, NOT a discussion. Teaching happens 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build, not the recap. Say the three beats, bridge, move.</a:t>
            </a:r>
            <a:endParaRPr/>
          </a:p>
        </p:txBody>
      </p:sp>
      <p:sp>
        <p:nvSpPr>
          <p:cNvPr id="371" name="Google Shape;371;g3e338da7f7e_2_2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338da7f7e_2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Frame: "The one that knows Yettel. Give it a city + time window → 5-min briefing on what moved, through our priorities."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Build field by field, on screen, wait for the room: "Tell me when your screen matches mine"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Instructions: paste WHOLE block, do NOT read aloud — but point at CRITICAL BEHAVIOUR (2 modes: no scope/time → it must STOP and ASK)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Knowledge: upload ONLY 01 + 02 (not all five) — "each agent gets the lens it needs"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Toggles: web ON · specified-sources OFF · Outlook OFF · Teams OFF — say WHY (web + files = current AND grounded)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 (don't rescue): "Who could've written that instruction block from scratch?" → silence → reveal: an LLM wrote it; the Prompt Coach does this; you're not expected to be a prompt engineer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Truth-bomb: "Good agents ask before they run. Scoping is leadership applied to AI."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2 BUILD · ~8-10 min · FIRST custom agent — go slower, the rest rhyme.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"MAKE THEM UNCOMFORTABLE" BEAT (key — do it right):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Instructions are pasted, ask who could have written that block.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THE SILENCE SIT. Do not fill it. Then: "Neither did I. An LLM wrote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prompt — for the LLM. There's a built-in Prompt Coach that does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exactly this. You describe what you want in plain words; it writes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block. You are NOT expected to be a prompt engineer."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 ON THE VM: Create → Configure → Name → Description → Instructions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point at CRITICAL BEHAVIOUR → upload 01+02 → 4 toggles → 4 starter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prompts → Create.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WATCH: the TOGGLES are the highest-error step. If the room is slow,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 and screen-share the exact toggle state. Don't move until screens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match.</a:t>
            </a:r>
            <a:endParaRPr/>
          </a:p>
        </p:txBody>
      </p:sp>
      <p:sp>
        <p:nvSpPr>
          <p:cNvPr id="380" name="Google Shape;380;g3e338da7f7e_2_2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338da7f7e_2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Test 1 — paste vague "Give me a market briefing." → it REFUSES, asks for 2 params ("even when I don't tell it to")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Test 2 — "Belgrade, last 30 days." → now it searches; verify the 4-section structure + "we/our" + honest thin-signal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Boundary 1 — point at the search keywords: they came from OUR docs, THEN went to the web ("targeted, not data-data-data")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Boundary 2 — re-run with sentiment angle → it pulls app-store reviews, then REDDIT. Say: "I didn't know it had Reddit access either — one agent could just be a Reddit monitor"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Boundary 3 — honest caveat (say lightly): a source like Reddit may block a locked-down VM / un-logged-in session — "that's the agent being HONEST, not broken"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 while it runs (5-7 min): "What would YOU want this to scan for your part of the business? Shout the source."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Truth-bombs: "LLMs are smooth talkers — unusual confidence = ran out of context" · "Stock was generic on BOTH worlds; custom fixes both"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2 TEST + BOUNDARY EXPLORATION · ~8-12 min · THE teaching window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asked for. The 5-7 min runtime IS the lesson — not dead air. This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room is INTERMEDIATE; it rewards being shown the edges.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THE BOUNDARY MATERIAL COMES FROM: your own live discovery with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Tanmaya (18-May, ~21:57-22:10). The keyword-grounding, the Reddit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access, the app-review pull, the VM-block honesty — all observed, all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real. You're re-running what you already saw work.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SENTIMENT RE-RUN PROMPT (verbatim):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"Scan public customer sentiment for Belgrade, last 30 days — app store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reviews, social, complaint sites."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ASKED "can it access [X tool]?": good question — explore it live for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~60 sec, this room loves the edges. But TIMEBOX: "We could go forever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— you've seen the principle, let's move."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BRIDGE: "Before the next build — one more plain stock-chat test, for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contrast." → slide 23 (recap) then 24.</a:t>
            </a:r>
            <a:endParaRPr/>
          </a:p>
        </p:txBody>
      </p:sp>
      <p:sp>
        <p:nvSpPr>
          <p:cNvPr id="391" name="Google Shape;391;g3e338da7f7e_2_3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338da7f7e_2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"Good agents ask before they run — parameters beat assumptions."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"Custom isn't a bigger model. It's a tighter lens."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"Two files, not five. Discipline is the value."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BRIDGE: "Next is Meeting Prep — but one more stock test first, the other side of generic." → slide 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2 RECAP · ~30-45 sec · tight, NOT a discussion.</a:t>
            </a:r>
            <a:endParaRPr/>
          </a:p>
        </p:txBody>
      </p:sp>
      <p:sp>
        <p:nvSpPr>
          <p:cNvPr id="402" name="Google Shape;402;g3e338da7f7e_2_3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338da7f7e_2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Set the contrast (OPPOSITE of Block 1): "Block 1 = blind to the OUTSIDE world. Now test it on the INSIDE world — and the twist: it's actually pretty good"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Run live: FRESH default Copilot Chat (not Researcher, not an agent), work mode → "Prep me for my 1:1 with Lena tonight."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Point at the good: it found the event, pulled agenda, suggested run-of-show — "don't wave this away, at surface level it's useful"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ASK: "What's wrong with 'what's the current status? what are the top risks?'" → lead them: generic, fits ANY meeting anywhere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Land it: it ADMITS "prompts are mine / template is mine" — honestly telling you it has no context → scaffolding, not substance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Truth-bomb: "Stock is generic, custom is yours. Now we build the one that knows Mira's draft and Lena's specific asks."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3 STOCK CHAT BASELINE · ~4-5 min · NO build.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THIS MATTERS: it's the inverse of Block 1. There, stock failed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outside world. Here, stock is surprisingly competent on the inside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 — which makes the "but it's still generic scaffolding" lesson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land harder. Don't undersell how good it is first.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DISCIPLINE: baseline, not a build. 5 min max → slide 25.</a:t>
            </a:r>
            <a:endParaRPr/>
          </a:p>
        </p:txBody>
      </p:sp>
      <p:sp>
        <p:nvSpPr>
          <p:cNvPr id="411" name="Google Shape;411;g3e338da7f7e_2_3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338da7f7e_2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Frame: "Marko opens this 10 min before a meeting → who's in the room, what's open, what they'll raise. Reads his Outlook/Teams/calendar + 2 files"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Delta vs Market Pulse: this one does NOT search the web — say it and explain why ("web is noise for a meeting prep; you toggle per job")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Build same rhythm: paste Name/Desc/Instructions → upload 02 + 05 → ADD sources: My emails (Outlook), My Teams → toggles both web OFF → 4 prompts → Create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ASK: "What if Marko just says 'prep me' with no meeting?" → leads to: it must ask (same discipline)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ASK: "Why two prompts not one perfect prompt?" → leads to the two-pass design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Explain two passes: Pass 1 = calendar-grounded brief, offers to go deeper → say yes → Pass 2 = email/Teams scan + an "updated read"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Truth-bomb: "Two prompts beat one perfect prompt. Train it like a chief of staff — once, properly. The 'updated read' is where AI earns its keep."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3 BUILD · ~8-10 min · 2nd build, move a bit faster — BUT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two-pass idea is new; dwell there.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DELTA TO CALL OUT LOUD: Market Pulse had web ON because the outside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 was the point. Meeting Prep has web OFF because for a meeting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live web is noise — what matters is the inbox and calendar. Same tool,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toggled per job. This contrast is the lesson of the block.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ASKED about 'emails signed at the bottom' in the Instructions: it's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real org behaviour the agent is explicitly told to handle (author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signs the body even when the From line differs). Sign of a well-built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 — good question to validate.</a:t>
            </a:r>
            <a:endParaRPr/>
          </a:p>
        </p:txBody>
      </p:sp>
      <p:sp>
        <p:nvSpPr>
          <p:cNvPr id="422" name="Google Shape;422;g3e338da7f7e_2_3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338da7f7e_2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"Agents work in conversations — two prompts beat one perfect prompt."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"The 'updated read' is where AI earns its keep."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"Train it like a chief of staff."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(if engaged) "Stock chat was honest about its gaps; custom Meeting Prep doesn't need that — it actually read your emails"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BRIDGE: "Last build — Catch-Up. One prompt, synthesis across email/Teams/files." → slide 27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3 RECAP · ~30-45 sec.</a:t>
            </a:r>
            <a:endParaRPr/>
          </a:p>
        </p:txBody>
      </p:sp>
      <p:sp>
        <p:nvSpPr>
          <p:cNvPr id="433" name="Google Shape;433;g3e338da7f7e_2_3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338da7f7e_2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Frame the contrast (the KEY idea): "Meeting Prep = navigating a ROOM. Catch-Up = understanding a SITUATION. Same architecture, same sources — different question = different agent. That's the unlock for your teams."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Build fast, same rhythm: Name/Desc/Instructions → upload 02 + 05 → add Outlook + Teams → toggles both web OFF → 4 prompts → Create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Test: "Catch me up on Nis." — ONE prompt, no follow-up ("synthesises everything in one pass, unlike Meeting Prep")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 (plants the cascade): "Think of ONE topic on YOUR plate you'd want a 60-sec read on every morning — hold that, we come back to it at the close"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Verify: 7 sections in order · connects Nis to Priority 5 · names real people (Petar Novak) · ends with honest 'source gaps' note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Truth-bomb: "Honest gaps build trust — 'no Teams activity found' is a GOOD answer. The agent you reach for Monday when you can't remember where Friday landed."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4 BUILD · ~6-8 min · 3rd build, they know the rhythm. Move fast.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INSIGHT, not the mechanics, is the point: SAME ENGINE, DIFFERENT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QUESTION. Don't re-explain the six fields — just do them while you talk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 the insight.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CASCADE PLANT: the "think of one topic on your plate" ask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deliberate — you collect it at slide 31. Make them actually hold a real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in their head now.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BEHIND ON TIME: this is the fastest build to run (room knows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fields). Speed here, protect the close (slide 31).</a:t>
            </a:r>
            <a:endParaRPr/>
          </a:p>
        </p:txBody>
      </p:sp>
      <p:sp>
        <p:nvSpPr>
          <p:cNvPr id="442" name="Google Shape;442;g3e338da7f7e_2_3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338da7f7e_2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"One prompt, synthesis across everything."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"Honest gaps build trust — 'nothing found' is a real answer."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"It tells you what you're about to walk into."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BRIDGE: "You've built three — every one waits for you to ask. Now one you do NOT build: it runs before anyone asks." → slide 29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4 RECAP · ~30-45 sec · this bridge sets up the reactive →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autonomous shift. Make the "every one waits for you" point land — it's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setup for why the Monday Brief is different.</a:t>
            </a:r>
            <a:endParaRPr/>
          </a:p>
        </p:txBody>
      </p:sp>
      <p:sp>
        <p:nvSpPr>
          <p:cNvPr id="453" name="Google Shape;453;g3e338da7f7e_2_3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338da7f7e_2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PRE-FLIGHT (night before, non-negotiable): verify the 7am flow fired + digest in inbox; if not, screenshots open in deck folder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Frame the shift: "You do NOT build this. Every agent you built WAITS for you. This one doesn't ask — it runs, does the work, result is waiting."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What it is: Monday 7am, reads last 48h across Marko's team → one-page digest in his inbox before he opens his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Show: the digest in the inbox (or screenshots — say nothing, just show), then the Power Automate schedule view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The one new piece: "Power Automate = the scheduling layer ON TOP of the same Copilot blocks. Same stack."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ASK: "Which of your three would you most want running like this, without asking?" (reinforces cascade)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Leader framing: "The three you built, anyone builds by tomorrow. This takes weeks — but it brings work to YOU. Those are the floor; this is closer to the ceiling."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5 AUTONOMOUS DEMO · ~5-7 min · YOU demo, nobody builds.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FALLBACK RULE: if the 7am Power Automate run did NOT fire, show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screenshots from the deck folder and say NOTHING about them being 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fallback — just present them as the output. Verify the night before so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know which path you're on before you walk in.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WATCH: don't oversell the tech. The point is the SHAPE — scheduled vs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reactive — not Power Automate mechanics. If you're over time, this 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block to compress; never compress slide 31.</a:t>
            </a:r>
            <a:endParaRPr/>
          </a:p>
        </p:txBody>
      </p:sp>
      <p:sp>
        <p:nvSpPr>
          <p:cNvPr id="462" name="Google Shape;462;g3e338da7f7e_2_3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e338da7f7e_2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Open calm: "Two hours. Three custom agents. Let me close the loop."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WHAT YOU BUILT: Market Pulse, Meeting Prep, Catch-Up — each takes a part of Marko's week off his plate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WHAT YOU SAW: two stock agents (the contrast) + one autonomous (the ceiling)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WHAT YOU LEARNED — walk all 5, one line each, eye contact, no rush: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  1. Custom agents enforce YOUR rules even when users push back — discipline is the value, not a constraint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  2. Good agents ask before they act — specificity = useful vs generic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  3. They read your REAL environment (email/Teams/calendar/files) — not just talk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  4. Some are one prompt, some a conversation — knowing when to ask follow-ups is the craft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  5. Honest agents say what they didn't find — they don't invent to fill space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BRIDGE: "One last thing — what you actually do with this Monday morning." → slide 31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BLOCK 6 CLOSE · ~4-5 min · slow down, this is what they remember.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WATCH: the five learnings ARE the deliverable — pause between each, no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content. If you're teaching something new here you've drifted, pull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 to the five. Do NOT rush this to reach the cascade.</a:t>
            </a:r>
            <a:endParaRPr/>
          </a:p>
        </p:txBody>
      </p:sp>
      <p:sp>
        <p:nvSpPr>
          <p:cNvPr id="473" name="Google Shape;473;g3e338da7f7e_2_3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338da7f7e_2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Stop driving the VM. Face the room. ONLY slide where you're not on a screen.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Say them AS directives, not suggestions: "Here's what I want you to do. Three things."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YOURSELF: rebuild Catch-Up on your own account this week (~10 min), use it daily for a week, then add the other two — start with one, daily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YOUR TECH TEAM: tell IT/analytics "I want a Monday Brief like the one I saw, for my real reports" — few hours' work, they have the skills, you just ask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YOUR NON-TECH TEAM: pick ONE high-volume daily team (retention desk, B2B AMs, care leads), sit with them, build a Catch-Up/Meeting Prep for THEIR work — compounding value lives there, not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HONEST NOTE: "agents live on shared workshop accounts, they go away — but the patterns are in your Companion; rebuilding takes 10 min once you've done it"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● END (slow, then STOP): "Three agents in two hours is the surface. The depth is what you do with the idea. Compound value isn't the demo — it's what you do Monday."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──────── detail / context ────────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CASCADE / CLOSE · ~4-5 min · THE ask. Highest-leverage 5 minutes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day.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Do NOT rush to "finish on time" — if anything ran over, you already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cut Block 5, never this.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Leaders disengage from soft asks. Every ask is concrete and ASSIGNED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(you / tech team / non-tech team). Don't soften to "you might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consider". Say it like you mean it, then take questions.</a:t>
            </a:r>
            <a:endParaRPr/>
          </a:p>
        </p:txBody>
      </p:sp>
      <p:sp>
        <p:nvSpPr>
          <p:cNvPr id="482" name="Google Shape;482;g3e338da7f7e_2_3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131" name="Google Shape;131;p25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YETTEL SERBIA · M365 COPILOT LEADERSHIP WORKSHOP</a:t>
            </a:r>
            <a:endParaRPr sz="1100"/>
          </a:p>
        </p:txBody>
      </p:sp>
      <p:sp>
        <p:nvSpPr>
          <p:cNvPr id="132" name="Google Shape;132;p25"/>
          <p:cNvSpPr txBox="1"/>
          <p:nvPr/>
        </p:nvSpPr>
        <p:spPr>
          <a:xfrm>
            <a:off x="582930" y="1714500"/>
            <a:ext cx="795528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Build your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3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AI team.</a:t>
            </a:r>
            <a:endParaRPr sz="1100"/>
          </a:p>
        </p:txBody>
      </p:sp>
      <p:cxnSp>
        <p:nvCxnSpPr>
          <p:cNvPr id="133" name="Google Shape;133;p25"/>
          <p:cNvCxnSpPr/>
          <p:nvPr/>
        </p:nvCxnSpPr>
        <p:spPr>
          <a:xfrm>
            <a:off x="596646" y="380619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25"/>
          <p:cNvSpPr txBox="1"/>
          <p:nvPr/>
        </p:nvSpPr>
        <p:spPr>
          <a:xfrm>
            <a:off x="582930" y="394335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Three agents. Your own working week. Ninety minutes.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3051810" y="960120"/>
            <a:ext cx="548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Madan Rawtani</a:t>
            </a:r>
            <a:endParaRPr sz="1100"/>
          </a:p>
        </p:txBody>
      </p:sp>
      <p:cxnSp>
        <p:nvCxnSpPr>
          <p:cNvPr id="140" name="Google Shape;140;p26"/>
          <p:cNvCxnSpPr/>
          <p:nvPr/>
        </p:nvCxnSpPr>
        <p:spPr>
          <a:xfrm>
            <a:off x="3065526" y="1611630"/>
            <a:ext cx="54870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26"/>
          <p:cNvSpPr txBox="1"/>
          <p:nvPr/>
        </p:nvSpPr>
        <p:spPr>
          <a:xfrm>
            <a:off x="3051810" y="1748790"/>
            <a:ext cx="5486400" cy="12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20+ years scaling growth at consumer-internet companies</a:t>
            </a:r>
            <a:endParaRPr b="1" sz="1800">
              <a:solidFill>
                <a:srgbClr val="7C2D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57534E"/>
              </a:buClr>
              <a:buSzPts val="900"/>
              <a:buChar char="•"/>
            </a:pPr>
            <a:r>
              <a:rPr lang="en" sz="13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Ran revenue &amp; marketing at Bharti Airtel</a:t>
            </a:r>
            <a:endParaRPr sz="1300">
              <a:solidFill>
                <a:srgbClr val="5753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00"/>
              <a:buChar char="•"/>
            </a:pPr>
            <a:r>
              <a:rPr lang="en" sz="13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Led growth &amp; lifecycle ops at India scale </a:t>
            </a:r>
            <a:endParaRPr sz="1300">
              <a:solidFill>
                <a:srgbClr val="5753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00"/>
              <a:buChar char="•"/>
            </a:pPr>
            <a:r>
              <a:rPr lang="en" sz="13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XLRI MBA. Reforge alumnus. Now: AI deployment for enterprises.</a:t>
            </a:r>
            <a:endParaRPr b="1" sz="1300">
              <a:solidFill>
                <a:srgbClr val="7C2D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8375675" y="288036"/>
            <a:ext cx="425100" cy="425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90" y="3697025"/>
            <a:ext cx="8839199" cy="1119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/>
          <p:cNvPicPr preferRelativeResize="0"/>
          <p:nvPr/>
        </p:nvPicPr>
        <p:blipFill rotWithShape="1">
          <a:blip r:embed="rId4">
            <a:alphaModFix/>
          </a:blip>
          <a:srcRect b="4655" l="2844" r="3611" t="1502"/>
          <a:stretch/>
        </p:blipFill>
        <p:spPr>
          <a:xfrm>
            <a:off x="312175" y="1100505"/>
            <a:ext cx="2427376" cy="24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151" name="Google Shape;151;p27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HOW THE NEXT 90 MINUTES RUN</a:t>
            </a:r>
            <a:endParaRPr sz="1100"/>
          </a:p>
        </p:txBody>
      </p:sp>
      <p:sp>
        <p:nvSpPr>
          <p:cNvPr id="152" name="Google Shape;152;p27"/>
          <p:cNvSpPr txBox="1"/>
          <p:nvPr/>
        </p:nvSpPr>
        <p:spPr>
          <a:xfrm>
            <a:off x="582930" y="78867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Three steps. You, in every one.</a:t>
            </a: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582930" y="2263140"/>
            <a:ext cx="2659304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SET UP</a:t>
            </a:r>
            <a:endParaRPr sz="1100"/>
          </a:p>
        </p:txBody>
      </p:sp>
      <p:sp>
        <p:nvSpPr>
          <p:cNvPr id="154" name="Google Shape;154;p27"/>
          <p:cNvSpPr txBox="1"/>
          <p:nvPr/>
        </p:nvSpPr>
        <p:spPr>
          <a:xfrm>
            <a:off x="582930" y="2914650"/>
            <a:ext cx="265930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Get everyone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working</a:t>
            </a:r>
            <a:endParaRPr sz="1100"/>
          </a:p>
        </p:txBody>
      </p:sp>
      <p:sp>
        <p:nvSpPr>
          <p:cNvPr id="155" name="Google Shape;155;p27"/>
          <p:cNvSpPr txBox="1"/>
          <p:nvPr/>
        </p:nvSpPr>
        <p:spPr>
          <a:xfrm>
            <a:off x="2933624" y="2276856"/>
            <a:ext cx="6172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156" name="Google Shape;156;p27"/>
          <p:cNvSpPr txBox="1"/>
          <p:nvPr/>
        </p:nvSpPr>
        <p:spPr>
          <a:xfrm>
            <a:off x="3242234" y="2263140"/>
            <a:ext cx="265930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BUILD 3 AGENTS</a:t>
            </a:r>
            <a:endParaRPr sz="1100"/>
          </a:p>
        </p:txBody>
      </p:sp>
      <p:sp>
        <p:nvSpPr>
          <p:cNvPr id="157" name="Google Shape;157;p27"/>
          <p:cNvSpPr txBox="1"/>
          <p:nvPr/>
        </p:nvSpPr>
        <p:spPr>
          <a:xfrm>
            <a:off x="3242234" y="2914650"/>
            <a:ext cx="265930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On your own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account, live</a:t>
            </a:r>
            <a:endParaRPr sz="1100"/>
          </a:p>
        </p:txBody>
      </p:sp>
      <p:sp>
        <p:nvSpPr>
          <p:cNvPr id="158" name="Google Shape;158;p27"/>
          <p:cNvSpPr txBox="1"/>
          <p:nvPr/>
        </p:nvSpPr>
        <p:spPr>
          <a:xfrm>
            <a:off x="5592927" y="2276856"/>
            <a:ext cx="6172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159" name="Google Shape;159;p27"/>
          <p:cNvSpPr txBox="1"/>
          <p:nvPr/>
        </p:nvSpPr>
        <p:spPr>
          <a:xfrm>
            <a:off x="5901537" y="2263140"/>
            <a:ext cx="265930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SEE ONE RUN</a:t>
            </a:r>
            <a:endParaRPr sz="1100"/>
          </a:p>
        </p:txBody>
      </p:sp>
      <p:sp>
        <p:nvSpPr>
          <p:cNvPr id="160" name="Google Shape;160;p27"/>
          <p:cNvSpPr txBox="1"/>
          <p:nvPr/>
        </p:nvSpPr>
        <p:spPr>
          <a:xfrm>
            <a:off x="5901537" y="2914650"/>
            <a:ext cx="265930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It works while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you sleep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167" name="Google Shape;167;p28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THREE HOUSE RULES</a:t>
            </a:r>
            <a:endParaRPr sz="1100"/>
          </a:p>
        </p:txBody>
      </p:sp>
      <p:sp>
        <p:nvSpPr>
          <p:cNvPr id="168" name="Google Shape;168;p28"/>
          <p:cNvSpPr txBox="1"/>
          <p:nvPr/>
        </p:nvSpPr>
        <p:spPr>
          <a:xfrm>
            <a:off x="582930" y="78867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This works best as a conversation.</a:t>
            </a:r>
            <a:endParaRPr sz="1100"/>
          </a:p>
        </p:txBody>
      </p:sp>
      <p:sp>
        <p:nvSpPr>
          <p:cNvPr id="169" name="Google Shape;169;p28"/>
          <p:cNvSpPr txBox="1"/>
          <p:nvPr/>
        </p:nvSpPr>
        <p:spPr>
          <a:xfrm>
            <a:off x="651510" y="1954530"/>
            <a:ext cx="5143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/>
          </a:p>
        </p:txBody>
      </p:sp>
      <p:sp>
        <p:nvSpPr>
          <p:cNvPr id="170" name="Google Shape;170;p28"/>
          <p:cNvSpPr txBox="1"/>
          <p:nvPr/>
        </p:nvSpPr>
        <p:spPr>
          <a:xfrm>
            <a:off x="1337310" y="1968246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Ask, any time</a:t>
            </a:r>
            <a:endParaRPr sz="1100"/>
          </a:p>
        </p:txBody>
      </p:sp>
      <p:sp>
        <p:nvSpPr>
          <p:cNvPr id="171" name="Google Shape;171;p28"/>
          <p:cNvSpPr txBox="1"/>
          <p:nvPr/>
        </p:nvSpPr>
        <p:spPr>
          <a:xfrm>
            <a:off x="651510" y="2743200"/>
            <a:ext cx="5143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/>
          </a:p>
        </p:txBody>
      </p:sp>
      <p:sp>
        <p:nvSpPr>
          <p:cNvPr id="172" name="Google Shape;172;p28"/>
          <p:cNvSpPr txBox="1"/>
          <p:nvPr/>
        </p:nvSpPr>
        <p:spPr>
          <a:xfrm>
            <a:off x="1337310" y="2756915"/>
            <a:ext cx="68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Stuck? Pls ask </a:t>
            </a:r>
            <a:endParaRPr sz="1100"/>
          </a:p>
        </p:txBody>
      </p:sp>
      <p:sp>
        <p:nvSpPr>
          <p:cNvPr id="173" name="Google Shape;173;p28"/>
          <p:cNvSpPr txBox="1"/>
          <p:nvPr/>
        </p:nvSpPr>
        <p:spPr>
          <a:xfrm>
            <a:off x="651510" y="3531870"/>
            <a:ext cx="51435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/>
          </a:p>
        </p:txBody>
      </p:sp>
      <p:sp>
        <p:nvSpPr>
          <p:cNvPr id="174" name="Google Shape;174;p28"/>
          <p:cNvSpPr txBox="1"/>
          <p:nvPr/>
        </p:nvSpPr>
        <p:spPr>
          <a:xfrm>
            <a:off x="1337310" y="3545586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Be Marko, not a spectator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181" name="Google Shape;181;p29"/>
          <p:cNvSpPr txBox="1"/>
          <p:nvPr/>
        </p:nvSpPr>
        <p:spPr>
          <a:xfrm>
            <a:off x="582930" y="48006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sz="1100"/>
          </a:p>
        </p:txBody>
      </p:sp>
      <p:sp>
        <p:nvSpPr>
          <p:cNvPr id="182" name="Google Shape;182;p29"/>
          <p:cNvSpPr txBox="1"/>
          <p:nvPr/>
        </p:nvSpPr>
        <p:spPr>
          <a:xfrm>
            <a:off x="582930" y="1988820"/>
            <a:ext cx="7955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First, let's get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set up.</a:t>
            </a:r>
            <a:endParaRPr sz="1100"/>
          </a:p>
        </p:txBody>
      </p:sp>
      <p:cxnSp>
        <p:nvCxnSpPr>
          <p:cNvPr id="183" name="Google Shape;183;p29"/>
          <p:cNvCxnSpPr/>
          <p:nvPr/>
        </p:nvCxnSpPr>
        <p:spPr>
          <a:xfrm>
            <a:off x="596646" y="342900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29"/>
          <p:cNvSpPr txBox="1"/>
          <p:nvPr/>
        </p:nvSpPr>
        <p:spPr>
          <a:xfrm>
            <a:off x="582930" y="3600450"/>
            <a:ext cx="7955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Nobody moves on until everybody is in. Five minutes, well spent.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191" name="Google Shape;191;p30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SETUP · TWO STEPS</a:t>
            </a:r>
            <a:endParaRPr sz="1100"/>
          </a:p>
        </p:txBody>
      </p:sp>
      <p:sp>
        <p:nvSpPr>
          <p:cNvPr id="192" name="Google Shape;192;p30"/>
          <p:cNvSpPr txBox="1"/>
          <p:nvPr/>
        </p:nvSpPr>
        <p:spPr>
          <a:xfrm>
            <a:off x="582930" y="78867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Get your VM running.</a:t>
            </a:r>
            <a:endParaRPr sz="1100"/>
          </a:p>
        </p:txBody>
      </p:sp>
      <p:sp>
        <p:nvSpPr>
          <p:cNvPr id="193" name="Google Shape;193;p30"/>
          <p:cNvSpPr/>
          <p:nvPr/>
        </p:nvSpPr>
        <p:spPr>
          <a:xfrm>
            <a:off x="651510" y="181737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194" name="Google Shape;194;p30"/>
          <p:cNvSpPr txBox="1"/>
          <p:nvPr/>
        </p:nvSpPr>
        <p:spPr>
          <a:xfrm>
            <a:off x="1371600" y="1851660"/>
            <a:ext cx="70637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Find your VM details</a:t>
            </a:r>
            <a:endParaRPr sz="1100"/>
          </a:p>
        </p:txBody>
      </p:sp>
      <p:sp>
        <p:nvSpPr>
          <p:cNvPr id="195" name="Google Shape;195;p30"/>
          <p:cNvSpPr txBox="1"/>
          <p:nvPr/>
        </p:nvSpPr>
        <p:spPr>
          <a:xfrm>
            <a:off x="1371600" y="2194560"/>
            <a:ext cx="706374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A VM URL + a user ID and password, in the email from the Operations team.</a:t>
            </a:r>
            <a:endParaRPr sz="11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Not there? Check spam. Still not there? Send your email to Anshuman now — he forwards it immediately.</a:t>
            </a:r>
            <a:endParaRPr sz="1100"/>
          </a:p>
        </p:txBody>
      </p:sp>
      <p:sp>
        <p:nvSpPr>
          <p:cNvPr id="196" name="Google Shape;196;p30"/>
          <p:cNvSpPr/>
          <p:nvPr/>
        </p:nvSpPr>
        <p:spPr>
          <a:xfrm>
            <a:off x="651510" y="3120390"/>
            <a:ext cx="548640" cy="5486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197" name="Google Shape;197;p30"/>
          <p:cNvSpPr txBox="1"/>
          <p:nvPr/>
        </p:nvSpPr>
        <p:spPr>
          <a:xfrm>
            <a:off x="1371600" y="3154680"/>
            <a:ext cx="70637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Open the browser, log in</a:t>
            </a:r>
            <a:endParaRPr sz="1100"/>
          </a:p>
        </p:txBody>
      </p:sp>
      <p:sp>
        <p:nvSpPr>
          <p:cNvPr id="198" name="Google Shape;198;p30"/>
          <p:cNvSpPr txBox="1"/>
          <p:nvPr/>
        </p:nvSpPr>
        <p:spPr>
          <a:xfrm>
            <a:off x="1371600" y="3497580"/>
            <a:ext cx="70637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Paste the VM URL into the browser. Sign in with the user ID and password. That is it.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754" y="1165860"/>
            <a:ext cx="5829300" cy="381856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06" name="Google Shape;206;p31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WHAT YOU SHOULD SEE · 1 OF 2</a:t>
            </a:r>
            <a:endParaRPr sz="1100"/>
          </a:p>
        </p:txBody>
      </p:sp>
      <p:sp>
        <p:nvSpPr>
          <p:cNvPr id="207" name="Google Shape;207;p31"/>
          <p:cNvSpPr txBox="1"/>
          <p:nvPr/>
        </p:nvSpPr>
        <p:spPr>
          <a:xfrm>
            <a:off x="582930" y="754380"/>
            <a:ext cx="7955280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1 | The VM login screen.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14" name="Google Shape;214;p32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WHAT YOU SHOULD SEE · 1 OF 2</a:t>
            </a:r>
            <a:endParaRPr sz="1100"/>
          </a:p>
        </p:txBody>
      </p:sp>
      <p:sp>
        <p:nvSpPr>
          <p:cNvPr id="215" name="Google Shape;215;p32"/>
          <p:cNvSpPr txBox="1"/>
          <p:nvPr/>
        </p:nvSpPr>
        <p:spPr>
          <a:xfrm>
            <a:off x="582930" y="754380"/>
            <a:ext cx="7955280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2 | The VM login screen.</a:t>
            </a:r>
            <a:endParaRPr sz="1100"/>
          </a:p>
        </p:txBody>
      </p:sp>
      <p:pic>
        <p:nvPicPr>
          <p:cNvPr id="216" name="Google Shape;2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350" y="1194140"/>
            <a:ext cx="5829300" cy="3633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23" name="Google Shape;223;p33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WHAT YOU SHOULD SEE · 1 OF 2</a:t>
            </a:r>
            <a:endParaRPr sz="1100"/>
          </a:p>
        </p:txBody>
      </p:sp>
      <p:sp>
        <p:nvSpPr>
          <p:cNvPr id="224" name="Google Shape;224;p33"/>
          <p:cNvSpPr txBox="1"/>
          <p:nvPr/>
        </p:nvSpPr>
        <p:spPr>
          <a:xfrm>
            <a:off x="582930" y="754380"/>
            <a:ext cx="7955280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3 | The VM login screen.</a:t>
            </a:r>
            <a:endParaRPr sz="1100"/>
          </a:p>
        </p:txBody>
      </p:sp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508" y="1207008"/>
            <a:ext cx="5829300" cy="365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32" name="Google Shape;232;p34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WHAT YOU SHOULD SEE · 1 OF 2</a:t>
            </a:r>
            <a:endParaRPr sz="1100"/>
          </a:p>
        </p:txBody>
      </p:sp>
      <p:sp>
        <p:nvSpPr>
          <p:cNvPr id="233" name="Google Shape;233;p34"/>
          <p:cNvSpPr txBox="1"/>
          <p:nvPr/>
        </p:nvSpPr>
        <p:spPr>
          <a:xfrm>
            <a:off x="582930" y="754380"/>
            <a:ext cx="7955280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4 | The VM login screen.</a:t>
            </a:r>
            <a:endParaRPr sz="1100"/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350" y="1165860"/>
            <a:ext cx="5829300" cy="3592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41" name="Google Shape;241;p35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WHAT YOU SHOULD SEE · 2 OF 2</a:t>
            </a:r>
            <a:endParaRPr sz="1100"/>
          </a:p>
        </p:txBody>
      </p:sp>
      <p:sp>
        <p:nvSpPr>
          <p:cNvPr id="242" name="Google Shape;242;p35"/>
          <p:cNvSpPr txBox="1"/>
          <p:nvPr/>
        </p:nvSpPr>
        <p:spPr>
          <a:xfrm>
            <a:off x="582930" y="75438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You're on the desktop.</a:t>
            </a:r>
            <a:endParaRPr sz="1100"/>
          </a:p>
        </p:txBody>
      </p:sp>
      <p:pic>
        <p:nvPicPr>
          <p:cNvPr id="243" name="Google Shape;24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350" y="1165860"/>
            <a:ext cx="5829300" cy="3669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50" name="Google Shape;250;p36"/>
          <p:cNvSpPr txBox="1"/>
          <p:nvPr/>
        </p:nvSpPr>
        <p:spPr>
          <a:xfrm>
            <a:off x="582930" y="48006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SCENARIO</a:t>
            </a:r>
            <a:endParaRPr sz="1100"/>
          </a:p>
        </p:txBody>
      </p:sp>
      <p:sp>
        <p:nvSpPr>
          <p:cNvPr id="251" name="Google Shape;251;p36"/>
          <p:cNvSpPr txBox="1"/>
          <p:nvPr/>
        </p:nvSpPr>
        <p:spPr>
          <a:xfrm>
            <a:off x="582930" y="1851660"/>
            <a:ext cx="795528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3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You're staring at a desktop.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Whose is it?</a:t>
            </a:r>
            <a:endParaRPr sz="1100"/>
          </a:p>
        </p:txBody>
      </p:sp>
      <p:cxnSp>
        <p:nvCxnSpPr>
          <p:cNvPr id="252" name="Google Shape;252;p36"/>
          <p:cNvCxnSpPr/>
          <p:nvPr/>
        </p:nvCxnSpPr>
        <p:spPr>
          <a:xfrm>
            <a:off x="596646" y="353187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36"/>
          <p:cNvSpPr txBox="1"/>
          <p:nvPr/>
        </p:nvSpPr>
        <p:spPr>
          <a:xfrm>
            <a:off x="582930" y="3703320"/>
            <a:ext cx="7955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For the next ninety minutes, you are Marko Petrov.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60" name="Google Shape;260;p37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THE PERSON WHOSE WEEK THIS IS</a:t>
            </a:r>
            <a:endParaRPr sz="1100"/>
          </a:p>
        </p:txBody>
      </p:sp>
      <p:sp>
        <p:nvSpPr>
          <p:cNvPr id="261" name="Google Shape;261;p37"/>
          <p:cNvSpPr txBox="1"/>
          <p:nvPr/>
        </p:nvSpPr>
        <p:spPr>
          <a:xfrm>
            <a:off x="3051810" y="960120"/>
            <a:ext cx="548640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Marko Petrov</a:t>
            </a:r>
            <a:endParaRPr sz="1100"/>
          </a:p>
        </p:txBody>
      </p:sp>
      <p:cxnSp>
        <p:nvCxnSpPr>
          <p:cNvPr id="262" name="Google Shape;262;p37"/>
          <p:cNvCxnSpPr/>
          <p:nvPr/>
        </p:nvCxnSpPr>
        <p:spPr>
          <a:xfrm>
            <a:off x="3065526" y="1611630"/>
            <a:ext cx="54864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37"/>
          <p:cNvSpPr txBox="1"/>
          <p:nvPr/>
        </p:nvSpPr>
        <p:spPr>
          <a:xfrm>
            <a:off x="3051810" y="1748790"/>
            <a:ext cx="5486400" cy="755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VP, Customer Experience &amp; Commercial Operations</a:t>
            </a:r>
            <a:endParaRPr sz="1100"/>
          </a:p>
          <a:p>
            <a:pPr indent="-209550" lvl="0" marL="215900" marR="0" rtl="0" algn="l">
              <a:spcBef>
                <a:spcPts val="900"/>
              </a:spcBef>
              <a:spcAft>
                <a:spcPts val="0"/>
              </a:spcAft>
              <a:buClr>
                <a:srgbClr val="57534E"/>
              </a:buClr>
              <a:buSzPts val="1100"/>
              <a:buFont typeface="Arial"/>
              <a:buChar char="•"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Yettel Serbia  ·  reports to Lena Maric, Chief Commercial Officer</a:t>
            </a:r>
            <a:endParaRPr b="0" sz="1100">
              <a:solidFill>
                <a:srgbClr val="5753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215900" marR="0" rtl="0" algn="l">
              <a:spcBef>
                <a:spcPts val="700"/>
              </a:spcBef>
              <a:spcAft>
                <a:spcPts val="0"/>
              </a:spcAft>
              <a:buClr>
                <a:srgbClr val="57534E"/>
              </a:buClr>
              <a:buSzPts val="1100"/>
              <a:buFont typeface="Arial"/>
              <a:buChar char="•"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Back-to-back meetings. A fast inbox. </a:t>
            </a:r>
            <a:r>
              <a:rPr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usy Teams channels</a:t>
            </a:r>
            <a:endParaRPr b="0" sz="1100">
              <a:solidFill>
                <a:srgbClr val="5753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7"/>
          <p:cNvSpPr txBox="1"/>
          <p:nvPr/>
        </p:nvSpPr>
        <p:spPr>
          <a:xfrm>
            <a:off x="582930" y="3463290"/>
            <a:ext cx="79552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ON HIS PLATE THIS WEEK</a:t>
            </a:r>
            <a:endParaRPr sz="1100"/>
          </a:p>
        </p:txBody>
      </p:sp>
      <p:sp>
        <p:nvSpPr>
          <p:cNvPr id="265" name="Google Shape;265;p37"/>
          <p:cNvSpPr/>
          <p:nvPr/>
        </p:nvSpPr>
        <p:spPr>
          <a:xfrm>
            <a:off x="582930" y="3703320"/>
            <a:ext cx="1906524" cy="7200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MTS cut family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bundles 18%</a:t>
            </a:r>
            <a:endParaRPr sz="1100"/>
          </a:p>
        </p:txBody>
      </p:sp>
      <p:sp>
        <p:nvSpPr>
          <p:cNvPr id="266" name="Google Shape;266;p37"/>
          <p:cNvSpPr/>
          <p:nvPr/>
        </p:nvSpPr>
        <p:spPr>
          <a:xfrm>
            <a:off x="2599182" y="3703320"/>
            <a:ext cx="1906524" cy="7200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Niš network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still broken</a:t>
            </a:r>
            <a:endParaRPr sz="1100"/>
          </a:p>
        </p:txBody>
      </p:sp>
      <p:sp>
        <p:nvSpPr>
          <p:cNvPr id="267" name="Google Shape;267;p37"/>
          <p:cNvSpPr/>
          <p:nvPr/>
        </p:nvSpPr>
        <p:spPr>
          <a:xfrm>
            <a:off x="4615434" y="3703320"/>
            <a:ext cx="1906524" cy="7200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Government B2B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tender, Friday</a:t>
            </a:r>
            <a:endParaRPr sz="1100"/>
          </a:p>
        </p:txBody>
      </p:sp>
      <p:sp>
        <p:nvSpPr>
          <p:cNvPr id="268" name="Google Shape;268;p37"/>
          <p:cNvSpPr/>
          <p:nvPr/>
        </p:nvSpPr>
        <p:spPr>
          <a:xfrm>
            <a:off x="6631686" y="3703320"/>
            <a:ext cx="1906524" cy="72009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7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Q2 plan due,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half-written</a:t>
            </a:r>
            <a:endParaRPr sz="1100"/>
          </a:p>
        </p:txBody>
      </p:sp>
      <p:pic>
        <p:nvPicPr>
          <p:cNvPr descr="Profile image" id="269" name="Google Shape;26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158" y="960120"/>
            <a:ext cx="2228469" cy="2228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76" name="Google Shape;276;p38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NOW — LOOK AT MARKO'S WORLD</a:t>
            </a:r>
            <a:endParaRPr sz="1100"/>
          </a:p>
        </p:txBody>
      </p:sp>
      <p:sp>
        <p:nvSpPr>
          <p:cNvPr id="277" name="Google Shape;277;p38"/>
          <p:cNvSpPr txBox="1"/>
          <p:nvPr/>
        </p:nvSpPr>
        <p:spPr>
          <a:xfrm>
            <a:off x="568022" y="1012301"/>
            <a:ext cx="7955280" cy="17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1. Open Edge</a:t>
            </a:r>
            <a:endParaRPr b="1" sz="23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2. First shortcut: </a:t>
            </a:r>
            <a:r>
              <a:rPr b="1"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Microsoft 365.</a:t>
            </a:r>
            <a:endParaRPr b="1" sz="23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3. Next Steps :</a:t>
            </a:r>
            <a:r>
              <a:rPr b="1"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30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8"/>
          <p:cNvSpPr/>
          <p:nvPr/>
        </p:nvSpPr>
        <p:spPr>
          <a:xfrm>
            <a:off x="515841" y="2847218"/>
            <a:ext cx="2592324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755871" y="3052958"/>
            <a:ext cx="211226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01   </a:t>
            </a:r>
            <a:r>
              <a:rPr b="1" lang="en" sz="11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INBOX</a:t>
            </a:r>
            <a:endParaRPr sz="1100"/>
          </a:p>
        </p:txBody>
      </p:sp>
      <p:sp>
        <p:nvSpPr>
          <p:cNvPr id="280" name="Google Shape;280;p38"/>
          <p:cNvSpPr txBox="1"/>
          <p:nvPr/>
        </p:nvSpPr>
        <p:spPr>
          <a:xfrm>
            <a:off x="755871" y="3430148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Real threads. Pricing,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a tender, the network.</a:t>
            </a:r>
            <a:endParaRPr sz="1100"/>
          </a:p>
        </p:txBody>
      </p:sp>
      <p:sp>
        <p:nvSpPr>
          <p:cNvPr id="281" name="Google Shape;281;p38"/>
          <p:cNvSpPr/>
          <p:nvPr/>
        </p:nvSpPr>
        <p:spPr>
          <a:xfrm>
            <a:off x="3197319" y="2847218"/>
            <a:ext cx="2592324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8"/>
          <p:cNvSpPr txBox="1"/>
          <p:nvPr/>
        </p:nvSpPr>
        <p:spPr>
          <a:xfrm>
            <a:off x="3437348" y="3052958"/>
            <a:ext cx="211226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02   </a:t>
            </a:r>
            <a:r>
              <a:rPr b="1" lang="en" sz="11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CALENDAR</a:t>
            </a:r>
            <a:endParaRPr sz="1100"/>
          </a:p>
        </p:txBody>
      </p:sp>
      <p:sp>
        <p:nvSpPr>
          <p:cNvPr id="283" name="Google Shape;283;p38"/>
          <p:cNvSpPr txBox="1"/>
          <p:nvPr/>
        </p:nvSpPr>
        <p:spPr>
          <a:xfrm>
            <a:off x="3437348" y="3430148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Two full weeks,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already populated.</a:t>
            </a:r>
            <a:endParaRPr sz="1100"/>
          </a:p>
        </p:txBody>
      </p:sp>
      <p:sp>
        <p:nvSpPr>
          <p:cNvPr id="284" name="Google Shape;284;p38"/>
          <p:cNvSpPr/>
          <p:nvPr/>
        </p:nvSpPr>
        <p:spPr>
          <a:xfrm>
            <a:off x="5878797" y="2847218"/>
            <a:ext cx="2592324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7D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8"/>
          <p:cNvSpPr txBox="1"/>
          <p:nvPr/>
        </p:nvSpPr>
        <p:spPr>
          <a:xfrm>
            <a:off x="6118827" y="3052958"/>
            <a:ext cx="2112264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03   </a:t>
            </a:r>
            <a:r>
              <a:rPr b="1" lang="en" sz="11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ONEDRIVE</a:t>
            </a:r>
            <a:endParaRPr sz="1100"/>
          </a:p>
        </p:txBody>
      </p:sp>
      <p:sp>
        <p:nvSpPr>
          <p:cNvPr id="286" name="Google Shape;286;p38"/>
          <p:cNvSpPr txBox="1"/>
          <p:nvPr/>
        </p:nvSpPr>
        <p:spPr>
          <a:xfrm>
            <a:off x="6118827" y="3430148"/>
            <a:ext cx="211226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His brand guidelines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and his priorities.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293" name="Google Shape;293;p39"/>
          <p:cNvSpPr txBox="1"/>
          <p:nvPr/>
        </p:nvSpPr>
        <p:spPr>
          <a:xfrm>
            <a:off x="582930" y="48006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sz="1100"/>
          </a:p>
        </p:txBody>
      </p:sp>
      <p:sp>
        <p:nvSpPr>
          <p:cNvPr id="294" name="Google Shape;294;p39"/>
          <p:cNvSpPr txBox="1"/>
          <p:nvPr/>
        </p:nvSpPr>
        <p:spPr>
          <a:xfrm>
            <a:off x="582930" y="1851660"/>
            <a:ext cx="795528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 we build Marko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AI team.</a:t>
            </a:r>
            <a:endParaRPr sz="1100"/>
          </a:p>
        </p:txBody>
      </p:sp>
      <p:cxnSp>
        <p:nvCxnSpPr>
          <p:cNvPr id="295" name="Google Shape;295;p39"/>
          <p:cNvCxnSpPr/>
          <p:nvPr/>
        </p:nvCxnSpPr>
        <p:spPr>
          <a:xfrm>
            <a:off x="596646" y="353187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39"/>
          <p:cNvSpPr txBox="1"/>
          <p:nvPr/>
        </p:nvSpPr>
        <p:spPr>
          <a:xfrm>
            <a:off x="582930" y="3703320"/>
            <a:ext cx="7955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Three agents. Each one takes a part of his job off his plate.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302" name="Google Shape;302;p40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BEFORE WE BUILD — WHAT KEEPS LANDING ON MARKO'S PLATE</a:t>
            </a:r>
            <a:endParaRPr sz="1100"/>
          </a:p>
        </p:txBody>
      </p:sp>
      <p:sp>
        <p:nvSpPr>
          <p:cNvPr id="303" name="Google Shape;303;p40"/>
          <p:cNvSpPr txBox="1"/>
          <p:nvPr/>
        </p:nvSpPr>
        <p:spPr>
          <a:xfrm>
            <a:off x="582930" y="78867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Three recurring problems. Three agents.</a:t>
            </a:r>
            <a:endParaRPr sz="1100"/>
          </a:p>
        </p:txBody>
      </p:sp>
      <p:sp>
        <p:nvSpPr>
          <p:cNvPr id="304" name="Google Shape;304;p40"/>
          <p:cNvSpPr txBox="1"/>
          <p:nvPr/>
        </p:nvSpPr>
        <p:spPr>
          <a:xfrm>
            <a:off x="582930" y="2023110"/>
            <a:ext cx="2659304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STAYING CURRENT</a:t>
            </a:r>
            <a:endParaRPr sz="1100"/>
          </a:p>
        </p:txBody>
      </p:sp>
      <p:cxnSp>
        <p:nvCxnSpPr>
          <p:cNvPr id="305" name="Google Shape;305;p40"/>
          <p:cNvCxnSpPr/>
          <p:nvPr/>
        </p:nvCxnSpPr>
        <p:spPr>
          <a:xfrm>
            <a:off x="1603972" y="2606040"/>
            <a:ext cx="61722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40"/>
          <p:cNvSpPr txBox="1"/>
          <p:nvPr/>
        </p:nvSpPr>
        <p:spPr>
          <a:xfrm>
            <a:off x="582930" y="2743200"/>
            <a:ext cx="265930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/>
          </a:p>
        </p:txBody>
      </p:sp>
      <p:sp>
        <p:nvSpPr>
          <p:cNvPr id="307" name="Google Shape;307;p40"/>
          <p:cNvSpPr txBox="1"/>
          <p:nvPr/>
        </p:nvSpPr>
        <p:spPr>
          <a:xfrm>
            <a:off x="582930" y="3188970"/>
            <a:ext cx="26593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Yettel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Market Pulse</a:t>
            </a:r>
            <a:endParaRPr sz="1100"/>
          </a:p>
        </p:txBody>
      </p:sp>
      <p:sp>
        <p:nvSpPr>
          <p:cNvPr id="308" name="Google Shape;308;p40"/>
          <p:cNvSpPr txBox="1"/>
          <p:nvPr/>
        </p:nvSpPr>
        <p:spPr>
          <a:xfrm>
            <a:off x="3242234" y="2023110"/>
            <a:ext cx="265930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WALKING IN COLD</a:t>
            </a:r>
            <a:endParaRPr sz="1100"/>
          </a:p>
        </p:txBody>
      </p:sp>
      <p:cxnSp>
        <p:nvCxnSpPr>
          <p:cNvPr id="309" name="Google Shape;309;p40"/>
          <p:cNvCxnSpPr/>
          <p:nvPr/>
        </p:nvCxnSpPr>
        <p:spPr>
          <a:xfrm>
            <a:off x="4263275" y="2606040"/>
            <a:ext cx="61722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40"/>
          <p:cNvSpPr txBox="1"/>
          <p:nvPr/>
        </p:nvSpPr>
        <p:spPr>
          <a:xfrm>
            <a:off x="3242234" y="2743200"/>
            <a:ext cx="26593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/>
          </a:p>
        </p:txBody>
      </p:sp>
      <p:sp>
        <p:nvSpPr>
          <p:cNvPr id="311" name="Google Shape;311;p40"/>
          <p:cNvSpPr txBox="1"/>
          <p:nvPr/>
        </p:nvSpPr>
        <p:spPr>
          <a:xfrm>
            <a:off x="3242234" y="3188970"/>
            <a:ext cx="26593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Yettel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Meeting Prep</a:t>
            </a:r>
            <a:endParaRPr sz="1100"/>
          </a:p>
        </p:txBody>
      </p:sp>
      <p:sp>
        <p:nvSpPr>
          <p:cNvPr id="312" name="Google Shape;312;p40"/>
          <p:cNvSpPr txBox="1"/>
          <p:nvPr/>
        </p:nvSpPr>
        <p:spPr>
          <a:xfrm>
            <a:off x="5901537" y="2023110"/>
            <a:ext cx="265930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FALLING BEHIND</a:t>
            </a:r>
            <a:endParaRPr sz="1100"/>
          </a:p>
        </p:txBody>
      </p:sp>
      <p:cxnSp>
        <p:nvCxnSpPr>
          <p:cNvPr id="313" name="Google Shape;313;p40"/>
          <p:cNvCxnSpPr/>
          <p:nvPr/>
        </p:nvCxnSpPr>
        <p:spPr>
          <a:xfrm>
            <a:off x="6922580" y="2606040"/>
            <a:ext cx="617220" cy="0"/>
          </a:xfrm>
          <a:prstGeom prst="straightConnector1">
            <a:avLst/>
          </a:prstGeom>
          <a:noFill/>
          <a:ln cap="flat" cmpd="sng" w="3175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40"/>
          <p:cNvSpPr txBox="1"/>
          <p:nvPr/>
        </p:nvSpPr>
        <p:spPr>
          <a:xfrm>
            <a:off x="5901537" y="2743200"/>
            <a:ext cx="26593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/>
          </a:p>
        </p:txBody>
      </p:sp>
      <p:sp>
        <p:nvSpPr>
          <p:cNvPr id="315" name="Google Shape;315;p40"/>
          <p:cNvSpPr txBox="1"/>
          <p:nvPr/>
        </p:nvSpPr>
        <p:spPr>
          <a:xfrm>
            <a:off x="5901537" y="3188970"/>
            <a:ext cx="265930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Yettel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Catch-Up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321" name="Google Shape;321;p41"/>
          <p:cNvSpPr txBox="1"/>
          <p:nvPr/>
        </p:nvSpPr>
        <p:spPr>
          <a:xfrm>
            <a:off x="582930" y="480060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HOW THE AGENTS UNDERSTAND MARKO'S WORLD</a:t>
            </a:r>
            <a:endParaRPr sz="1100"/>
          </a:p>
        </p:txBody>
      </p:sp>
      <p:sp>
        <p:nvSpPr>
          <p:cNvPr id="322" name="Google Shape;322;p41"/>
          <p:cNvSpPr txBox="1"/>
          <p:nvPr/>
        </p:nvSpPr>
        <p:spPr>
          <a:xfrm>
            <a:off x="582930" y="78867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Five files. The context we give them.</a:t>
            </a:r>
            <a:endParaRPr sz="1100"/>
          </a:p>
        </p:txBody>
      </p:sp>
      <p:sp>
        <p:nvSpPr>
          <p:cNvPr id="323" name="Google Shape;323;p41"/>
          <p:cNvSpPr txBox="1"/>
          <p:nvPr/>
        </p:nvSpPr>
        <p:spPr>
          <a:xfrm>
            <a:off x="480060" y="2091690"/>
            <a:ext cx="1636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/>
          </a:p>
        </p:txBody>
      </p:sp>
      <p:sp>
        <p:nvSpPr>
          <p:cNvPr id="324" name="Google Shape;324;p41"/>
          <p:cNvSpPr txBox="1"/>
          <p:nvPr/>
        </p:nvSpPr>
        <p:spPr>
          <a:xfrm>
            <a:off x="514350" y="2434590"/>
            <a:ext cx="15681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Competitor Pricing</a:t>
            </a:r>
            <a:endParaRPr sz="1100"/>
          </a:p>
        </p:txBody>
      </p:sp>
      <p:sp>
        <p:nvSpPr>
          <p:cNvPr id="325" name="Google Shape;325;p41"/>
          <p:cNvSpPr txBox="1"/>
          <p:nvPr/>
        </p:nvSpPr>
        <p:spPr>
          <a:xfrm>
            <a:off x="514350" y="3017520"/>
            <a:ext cx="156815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MTS, A1, Globaltel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tariffs &amp; moves</a:t>
            </a:r>
            <a:endParaRPr sz="1100"/>
          </a:p>
        </p:txBody>
      </p:sp>
      <p:sp>
        <p:nvSpPr>
          <p:cNvPr id="326" name="Google Shape;326;p41"/>
          <p:cNvSpPr txBox="1"/>
          <p:nvPr/>
        </p:nvSpPr>
        <p:spPr>
          <a:xfrm>
            <a:off x="2116790" y="2091690"/>
            <a:ext cx="1636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/>
          </a:p>
        </p:txBody>
      </p:sp>
      <p:sp>
        <p:nvSpPr>
          <p:cNvPr id="327" name="Google Shape;327;p41"/>
          <p:cNvSpPr txBox="1"/>
          <p:nvPr/>
        </p:nvSpPr>
        <p:spPr>
          <a:xfrm>
            <a:off x="2151080" y="2434590"/>
            <a:ext cx="15681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Strategic Priorities</a:t>
            </a:r>
            <a:endParaRPr sz="1100"/>
          </a:p>
        </p:txBody>
      </p:sp>
      <p:sp>
        <p:nvSpPr>
          <p:cNvPr id="328" name="Google Shape;328;p41"/>
          <p:cNvSpPr txBox="1"/>
          <p:nvPr/>
        </p:nvSpPr>
        <p:spPr>
          <a:xfrm>
            <a:off x="2151080" y="3017520"/>
            <a:ext cx="156815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Marko's 2026 plan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&amp; risk register</a:t>
            </a:r>
            <a:endParaRPr sz="1100"/>
          </a:p>
        </p:txBody>
      </p:sp>
      <p:sp>
        <p:nvSpPr>
          <p:cNvPr id="329" name="Google Shape;329;p41"/>
          <p:cNvSpPr txBox="1"/>
          <p:nvPr/>
        </p:nvSpPr>
        <p:spPr>
          <a:xfrm>
            <a:off x="3753521" y="2091690"/>
            <a:ext cx="1636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/>
          </a:p>
        </p:txBody>
      </p:sp>
      <p:sp>
        <p:nvSpPr>
          <p:cNvPr id="330" name="Google Shape;330;p41"/>
          <p:cNvSpPr txBox="1"/>
          <p:nvPr/>
        </p:nvSpPr>
        <p:spPr>
          <a:xfrm>
            <a:off x="3787811" y="2434590"/>
            <a:ext cx="15681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RATEL Bulletin</a:t>
            </a:r>
            <a:endParaRPr sz="1100"/>
          </a:p>
        </p:txBody>
      </p:sp>
      <p:sp>
        <p:nvSpPr>
          <p:cNvPr id="331" name="Google Shape;331;p41"/>
          <p:cNvSpPr txBox="1"/>
          <p:nvPr/>
        </p:nvSpPr>
        <p:spPr>
          <a:xfrm>
            <a:off x="3787811" y="3017520"/>
            <a:ext cx="156815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What the Serbian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regulator just did</a:t>
            </a:r>
            <a:endParaRPr sz="1100"/>
          </a:p>
        </p:txBody>
      </p:sp>
      <p:sp>
        <p:nvSpPr>
          <p:cNvPr id="332" name="Google Shape;332;p41"/>
          <p:cNvSpPr txBox="1"/>
          <p:nvPr/>
        </p:nvSpPr>
        <p:spPr>
          <a:xfrm>
            <a:off x="5390251" y="2091690"/>
            <a:ext cx="1636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/>
          </a:p>
        </p:txBody>
      </p:sp>
      <p:sp>
        <p:nvSpPr>
          <p:cNvPr id="333" name="Google Shape;333;p41"/>
          <p:cNvSpPr txBox="1"/>
          <p:nvPr/>
        </p:nvSpPr>
        <p:spPr>
          <a:xfrm>
            <a:off x="5424541" y="2434590"/>
            <a:ext cx="15681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Q1 Commercial Review</a:t>
            </a:r>
            <a:endParaRPr sz="1100"/>
          </a:p>
        </p:txBody>
      </p:sp>
      <p:sp>
        <p:nvSpPr>
          <p:cNvPr id="334" name="Google Shape;334;p41"/>
          <p:cNvSpPr txBox="1"/>
          <p:nvPr/>
        </p:nvSpPr>
        <p:spPr>
          <a:xfrm>
            <a:off x="5424541" y="3017520"/>
            <a:ext cx="156815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Last quarter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vs plan</a:t>
            </a:r>
            <a:endParaRPr sz="1100"/>
          </a:p>
        </p:txBody>
      </p:sp>
      <p:sp>
        <p:nvSpPr>
          <p:cNvPr id="335" name="Google Shape;335;p41"/>
          <p:cNvSpPr txBox="1"/>
          <p:nvPr/>
        </p:nvSpPr>
        <p:spPr>
          <a:xfrm>
            <a:off x="7026981" y="2091690"/>
            <a:ext cx="1636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/>
          </a:p>
        </p:txBody>
      </p:sp>
      <p:sp>
        <p:nvSpPr>
          <p:cNvPr id="336" name="Google Shape;336;p41"/>
          <p:cNvSpPr txBox="1"/>
          <p:nvPr/>
        </p:nvSpPr>
        <p:spPr>
          <a:xfrm>
            <a:off x="7061271" y="2434590"/>
            <a:ext cx="156815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Brand Voice Notes</a:t>
            </a:r>
            <a:endParaRPr sz="1100"/>
          </a:p>
        </p:txBody>
      </p:sp>
      <p:sp>
        <p:nvSpPr>
          <p:cNvPr id="337" name="Google Shape;337;p41"/>
          <p:cNvSpPr txBox="1"/>
          <p:nvPr/>
        </p:nvSpPr>
        <p:spPr>
          <a:xfrm>
            <a:off x="7061271" y="3017520"/>
            <a:ext cx="156815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How Yettel</a:t>
            </a:r>
            <a:endParaRPr sz="1100"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sounds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2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343" name="Google Shape;343;p42"/>
          <p:cNvSpPr txBox="1"/>
          <p:nvPr/>
        </p:nvSpPr>
        <p:spPr>
          <a:xfrm>
            <a:off x="582930" y="480060"/>
            <a:ext cx="41148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PHASE 2 · WE BUILD</a:t>
            </a:r>
            <a:endParaRPr sz="1100"/>
          </a:p>
        </p:txBody>
      </p:sp>
      <p:sp>
        <p:nvSpPr>
          <p:cNvPr id="344" name="Google Shape;344;p42"/>
          <p:cNvSpPr txBox="1"/>
          <p:nvPr/>
        </p:nvSpPr>
        <p:spPr>
          <a:xfrm>
            <a:off x="582930" y="1851660"/>
            <a:ext cx="795528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 the Companion.</a:t>
            </a:r>
            <a:endParaRPr sz="1100"/>
          </a:p>
        </p:txBody>
      </p:sp>
      <p:cxnSp>
        <p:nvCxnSpPr>
          <p:cNvPr id="345" name="Google Shape;345;p42"/>
          <p:cNvCxnSpPr/>
          <p:nvPr/>
        </p:nvCxnSpPr>
        <p:spPr>
          <a:xfrm>
            <a:off x="596646" y="3120390"/>
            <a:ext cx="685800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42"/>
          <p:cNvSpPr txBox="1"/>
          <p:nvPr/>
        </p:nvSpPr>
        <p:spPr>
          <a:xfrm>
            <a:off x="582930" y="3291840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Everything we build from here is in the doc in front of you. We build it together, one agent at a time.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352" name="Google Shape;352;p43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COMPANION V7 · HOW TO READ IT</a:t>
            </a:r>
            <a:endParaRPr sz="1100"/>
          </a:p>
        </p:txBody>
      </p:sp>
      <p:sp>
        <p:nvSpPr>
          <p:cNvPr id="353" name="Google Shape;353;p43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We build in the doc. Six blocks. Every block has the same shape.</a:t>
            </a:r>
            <a:endParaRPr sz="1100"/>
          </a:p>
        </p:txBody>
      </p:sp>
      <p:cxnSp>
        <p:nvCxnSpPr>
          <p:cNvPr id="354" name="Google Shape;354;p43"/>
          <p:cNvCxnSpPr/>
          <p:nvPr/>
        </p:nvCxnSpPr>
        <p:spPr>
          <a:xfrm>
            <a:off x="596646" y="1364742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43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Tell the room: slides stop here. From now we are IN the tool. The Companion in front of them is the build guide.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Every block reads the same way once they've done one: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SHAPE OF EVERY BLOCK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THE AGENT — what it does, when you'd use it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BUILD STEPS — the six fields in Agent Builder, in order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TEST IT — the prompt to paste once it's saved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WHAT GOOD LOOKS LIKE — how to know it's set up right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TOGGLE STRATEGY (SAY IT ONCE, HERE)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Market Pulse = web search ON + the files. Meeting Prep &amp; Catch-Up = web OFF, your sources only.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'Only use specified sources' is the accuracy lever — it stops the agent wandering.</a:t>
            </a:r>
            <a:endParaRPr sz="1100"/>
          </a:p>
        </p:txBody>
      </p:sp>
      <p:sp>
        <p:nvSpPr>
          <p:cNvPr id="356" name="Google Shape;356;p43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357" name="Google Shape;357;p43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M365 Copilot is open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Companion doc open in a 2nd tab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Create → New agent → Configure (show where it lives)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363" name="Google Shape;363;p44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1 · STOCK RESEARCHER (IN-BUILT)</a:t>
            </a:r>
            <a:endParaRPr sz="1100"/>
          </a:p>
        </p:txBody>
      </p:sp>
      <p:sp>
        <p:nvSpPr>
          <p:cNvPr id="364" name="Google Shape;364;p44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First, feel what generic gives you. No build here.</a:t>
            </a:r>
            <a:endParaRPr sz="1100"/>
          </a:p>
        </p:txBody>
      </p:sp>
      <p:cxnSp>
        <p:nvCxnSpPr>
          <p:cNvPr id="365" name="Google Shape;365;p44"/>
          <p:cNvCxnSpPr/>
          <p:nvPr/>
        </p:nvCxnSpPr>
        <p:spPr>
          <a:xfrm>
            <a:off x="596646" y="1419605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44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Frame WHY before you click: 'This is Microsoft's stock Researcher. We're not building anything. The point is to feel what generic returns — so the difference is obvious when we build the custom one.'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DO THIS LIVE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Sidebar → Agents → Researcher → fresh chat. Model picker on Auto.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Paste: 'What is happening in the Serbian mobile market right now?'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WHILE IT RUNS — NARRATE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It will be coherent and well-cited. That IS good for generic.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THEN LAND THE FOUR GAPS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Doesn't know who Yettel is (just 'one of three operators')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Doesn't frame through Yettel's priorities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Doesn't say what it means for YOU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Didn't ask you anything — just produced a country-level answer</a:t>
            </a:r>
            <a:endParaRPr sz="1100"/>
          </a:p>
        </p:txBody>
      </p:sp>
      <p:sp>
        <p:nvSpPr>
          <p:cNvPr id="367" name="Google Shape;367;p44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368" name="Google Shape;368;p44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Agents → Researcher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Fresh chat, model = Auto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Paste the Serbian-market prompt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Let the citations stream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374" name="Google Shape;374;p45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1 · BEFORE WE MOVE ON</a:t>
            </a:r>
            <a:endParaRPr sz="1100"/>
          </a:p>
        </p:txBody>
      </p:sp>
      <p:sp>
        <p:nvSpPr>
          <p:cNvPr id="375" name="Google Shape;375;p45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What you just felt — the baseline.</a:t>
            </a:r>
            <a:endParaRPr sz="1100"/>
          </a:p>
        </p:txBody>
      </p:sp>
      <p:cxnSp>
        <p:nvCxnSpPr>
          <p:cNvPr id="376" name="Google Shape;376;p45"/>
          <p:cNvCxnSpPr/>
          <p:nvPr/>
        </p:nvCxnSpPr>
        <p:spPr>
          <a:xfrm>
            <a:off x="596646" y="1419605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45"/>
          <p:cNvSpPr txBox="1"/>
          <p:nvPr/>
        </p:nvSpPr>
        <p:spPr>
          <a:xfrm>
            <a:off x="582930" y="1748790"/>
            <a:ext cx="795528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Three lines to land, then move: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SAY THESE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Stock AI is competent. It is just generic.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A Yettel question deserves a Yettel-grounded answer.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This is the bar. The next four agents clear it.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753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Bridge: 'Now we build the one that knows who Yettel is — Yettel Market Pulse.'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6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383" name="Google Shape;383;p46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2 · YETTEL MARKET PULSE</a:t>
            </a:r>
            <a:endParaRPr sz="1100"/>
          </a:p>
        </p:txBody>
      </p:sp>
      <p:sp>
        <p:nvSpPr>
          <p:cNvPr id="384" name="Google Shape;384;p46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Five-minute market briefing, framed for Yettel. First custom build.</a:t>
            </a:r>
            <a:endParaRPr sz="1100"/>
          </a:p>
        </p:txBody>
      </p:sp>
      <p:cxnSp>
        <p:nvCxnSpPr>
          <p:cNvPr id="385" name="Google Shape;385;p46"/>
          <p:cNvCxnSpPr/>
          <p:nvPr/>
        </p:nvCxnSpPr>
        <p:spPr>
          <a:xfrm>
            <a:off x="596646" y="1378458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6" name="Google Shape;386;p46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Frame: 'You tell it a city and a time window — Belgrade, last 30 days — and it briefs you on what just moved, through OUR priorities.'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BUILD THE SIX FIELDS TOGETHER (THEY FOLLOW IN THE DOC)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1 Name · 2 Description · 3 Instructions (paste the whole block — don't read it aloud)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4 Knowledge: upload only files 01 + 02 (not all five)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5 Toggles: Search all websites ON · Only specified sources OFF · Outlook OFF · Teams OFF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6 Starter prompts: add all four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ONE THING TO CALL OUT IN THE INSTRUCTIONS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The 'CRITICAL BEHAVIOUR' block: two modes — if scope OR time-window missing, it MUST stop and ask. 'The discipline of asking IS the value.'</a:t>
            </a:r>
            <a:endParaRPr sz="1100"/>
          </a:p>
        </p:txBody>
      </p:sp>
      <p:sp>
        <p:nvSpPr>
          <p:cNvPr id="387" name="Google Shape;387;p46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388" name="Google Shape;388;p46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Create → New agent → Configure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Paste Name / Description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Paste the full Instructions block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Upload 01_Competitor_Pricing + 02_Strategic_Priorities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Set the 4 toggles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Add 4 starter prompts → Create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394" name="Google Shape;394;p47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2 · TEST IT — AND EXPLORE THE EDGES</a:t>
            </a:r>
            <a:endParaRPr sz="1100"/>
          </a:p>
        </p:txBody>
      </p:sp>
      <p:sp>
        <p:nvSpPr>
          <p:cNvPr id="395" name="Google Shape;395;p47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This is the teaching window. Push the agent's boundaries live.</a:t>
            </a:r>
            <a:endParaRPr sz="1100"/>
          </a:p>
        </p:txBody>
      </p:sp>
      <p:cxnSp>
        <p:nvCxnSpPr>
          <p:cNvPr id="396" name="Google Shape;396;p47"/>
          <p:cNvCxnSpPr/>
          <p:nvPr/>
        </p:nvCxnSpPr>
        <p:spPr>
          <a:xfrm>
            <a:off x="596646" y="1351026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47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TEST (TWO PROMPTS)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Fresh chat. Paste vague: 'Give me a market briefing.' → it MUST refuse and ask for two parameters.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Then: 'Belgrade, last 30 days.' → now it searches and returns the 4-section structure.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VERIFY OUT LOUD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It asked for params (didn't just run) · cites live web, not just files · 'what it means' bullets cite priorities by number · uses 'we'/'our' · admits thin signal honestly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NOW EXPLORE THE BOUNDARY — THIS IS THE INTERMEDIATE-ROOM GOLD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Watch the keywords: they come from OUR docs, then it takes that to the web. 'Context narrows the search — that's the point.'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Re-run with a sentiment angle → it starts pulling Reddit, app-store reviews, social. Say: 'I didn't know it had Reddit access either. One agent could just monitor Reddit.'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Note the honest caveat live: some sources (Reddit) may block a VM/un-logged-in session — that's the agent being honest, not broken.</a:t>
            </a:r>
            <a:endParaRPr sz="1100"/>
          </a:p>
        </p:txBody>
      </p:sp>
      <p:sp>
        <p:nvSpPr>
          <p:cNvPr id="398" name="Google Shape;398;p47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399" name="Google Shape;399;p47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Fresh chat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Paste 'Give me a market briefing.'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It refuses → paste 'Belgrade, last 30 days.'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Re-run with: '…customer sentiment angle'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Watch it reach Reddit / app reviews / social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8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05" name="Google Shape;405;p48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2 · BEFORE WE MOVE ON</a:t>
            </a:r>
            <a:endParaRPr sz="1100"/>
          </a:p>
        </p:txBody>
      </p:sp>
      <p:sp>
        <p:nvSpPr>
          <p:cNvPr id="406" name="Google Shape;406;p48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What you just built — Yettel Market Pulse.</a:t>
            </a:r>
            <a:endParaRPr sz="1100"/>
          </a:p>
        </p:txBody>
      </p:sp>
      <p:cxnSp>
        <p:nvCxnSpPr>
          <p:cNvPr id="407" name="Google Shape;407;p48"/>
          <p:cNvCxnSpPr/>
          <p:nvPr/>
        </p:nvCxnSpPr>
        <p:spPr>
          <a:xfrm>
            <a:off x="596646" y="1419605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48"/>
          <p:cNvSpPr txBox="1"/>
          <p:nvPr/>
        </p:nvSpPr>
        <p:spPr>
          <a:xfrm>
            <a:off x="582930" y="1748790"/>
            <a:ext cx="795528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SAY THESE THREE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Good agents ask before they run. Parameters beat assumptions.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Custom is not a bigger model. It is a tighter lens.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Five files in our library — only two attached to this agent. Discipline.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753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Bridge: 'Next is Meeting Prep. But first — try stock chat one more time, for the contrast.'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9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14" name="Google Shape;414;p49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3 · TRY STOCK FIRST (DEFAULT COPILOT CHAT)</a:t>
            </a:r>
            <a:endParaRPr sz="1100"/>
          </a:p>
        </p:txBody>
      </p:sp>
      <p:sp>
        <p:nvSpPr>
          <p:cNvPr id="415" name="Google Shape;415;p49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The other baseline. Stock chat is actually competent here — that's the point.</a:t>
            </a:r>
            <a:endParaRPr sz="1100"/>
          </a:p>
        </p:txBody>
      </p:sp>
      <p:cxnSp>
        <p:nvCxnSpPr>
          <p:cNvPr id="416" name="Google Shape;416;p49"/>
          <p:cNvCxnSpPr/>
          <p:nvPr/>
        </p:nvCxnSpPr>
        <p:spPr>
          <a:xfrm>
            <a:off x="596646" y="1351026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49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Frame: 'In Block 1 stock was blind to the outside world. Now watch it on your INSIDE world — and it's surprisingly good. That makes the lesson sharper.'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DO THIS LIVE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Open a fresh default Copilot Chat (NOT Researcher, NOT an agent). Work mode.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Paste: 'Prep me for my 1:1 with Lena tonight.'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WHAT TO POINT AT WHEN IT ANSWERS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It WILL find the calendar event, pull agenda, suggest a run-of-show. Don't dismiss it — it's good at surface level.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Now read it closely: talking points are TEMPLATE questions ('what's the status?') — generic to any meeting.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Note its own disclaimers: 'prompts are mine', 'template is mine'. It's honestly telling you it has no context.</a:t>
            </a:r>
            <a:endParaRPr sz="1100"/>
          </a:p>
        </p:txBody>
      </p:sp>
      <p:sp>
        <p:nvSpPr>
          <p:cNvPr id="418" name="Google Shape;418;p49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419" name="Google Shape;419;p49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Default Copilot Chat (work mode)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NOT Researcher, NOT an agent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Paste 'Prep me for my 1:1 with Lena tonight.'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Read the talking points closely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Point at the 'template is mine' disclaimer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25" name="Google Shape;425;p50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3 · YETTEL MEETING PREP</a:t>
            </a:r>
            <a:endParaRPr sz="1100"/>
          </a:p>
        </p:txBody>
      </p:sp>
      <p:sp>
        <p:nvSpPr>
          <p:cNvPr id="426" name="Google Shape;426;p50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Ten minutes before a meeting. Works in TWO prompts — that's the craft.</a:t>
            </a:r>
            <a:endParaRPr sz="1100"/>
          </a:p>
        </p:txBody>
      </p:sp>
      <p:cxnSp>
        <p:nvCxnSpPr>
          <p:cNvPr id="427" name="Google Shape;427;p50"/>
          <p:cNvCxnSpPr/>
          <p:nvPr/>
        </p:nvCxnSpPr>
        <p:spPr>
          <a:xfrm>
            <a:off x="596646" y="1378458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50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Frame: 'Marko names a meeting — it tells him who's in the room, what's open, what they'll raise. It reads his Outlook, Teams, calendar AND the Yettel files.'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BUILD (SAME SIX-FIELD RHYTHM)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1 Name · 2 Description · 3 Instructions (paste whole block)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4 Knowledge: upload 02 + 05; THEN add sources: My emails (Outlook), My Teams chats &amp; meetings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5 Toggles: Search all websites OFF · Only specified sources OFF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6 Starter prompts: add all four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TEACHING POINT — THE TWO MODES + TWO PASSES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If no meeting named → it MUST ask which meeting. Then PASS 1: calendar-grounded brief. It offers to scan email/Teams. Say yes → PASS 2: the deeper search + an 'updated read'.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Web is OFF here on purpose — contrast this with Market Pulse out loud.</a:t>
            </a:r>
            <a:endParaRPr sz="1100"/>
          </a:p>
        </p:txBody>
      </p:sp>
      <p:sp>
        <p:nvSpPr>
          <p:cNvPr id="429" name="Google Shape;429;p50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430" name="Google Shape;430;p50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Create → New agent → Configure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Paste Name / Desc / Instructions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Upload 02 + 05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Add Outlook + Teams as sources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Toggles: both web OFF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4 starter prompts → Create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1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36" name="Google Shape;436;p51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3 · BEFORE WE MOVE ON</a:t>
            </a:r>
            <a:endParaRPr sz="1100"/>
          </a:p>
        </p:txBody>
      </p:sp>
      <p:sp>
        <p:nvSpPr>
          <p:cNvPr id="437" name="Google Shape;437;p51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What you just built — Yettel Meeting Prep.</a:t>
            </a:r>
            <a:endParaRPr sz="1100"/>
          </a:p>
        </p:txBody>
      </p:sp>
      <p:cxnSp>
        <p:nvCxnSpPr>
          <p:cNvPr id="438" name="Google Shape;438;p51"/>
          <p:cNvCxnSpPr/>
          <p:nvPr/>
        </p:nvCxnSpPr>
        <p:spPr>
          <a:xfrm>
            <a:off x="596646" y="1419605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p51"/>
          <p:cNvSpPr txBox="1"/>
          <p:nvPr/>
        </p:nvSpPr>
        <p:spPr>
          <a:xfrm>
            <a:off x="582930" y="1748790"/>
            <a:ext cx="795528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SAY THESE THREE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Agents work in conversations. Two prompts beat one perfect prompt.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The 'updated read' is where AI earns its keep.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Train your agent the way you'd train a chief of staff.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753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Bridge: 'Last build — Catch-Up. One prompt, structured synthesis across everything.'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2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45" name="Google Shape;445;p52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4 · YETTEL CATCH-UP</a:t>
            </a:r>
            <a:endParaRPr sz="1100"/>
          </a:p>
        </p:txBody>
      </p:sp>
      <p:sp>
        <p:nvSpPr>
          <p:cNvPr id="446" name="Google Shape;446;p52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Get current on a topic in 60 seconds. Same architecture, different question.</a:t>
            </a:r>
            <a:endParaRPr sz="1100"/>
          </a:p>
        </p:txBody>
      </p:sp>
      <p:cxnSp>
        <p:nvCxnSpPr>
          <p:cNvPr id="447" name="Google Shape;447;p52"/>
          <p:cNvCxnSpPr/>
          <p:nvPr/>
        </p:nvCxnSpPr>
        <p:spPr>
          <a:xfrm>
            <a:off x="596646" y="1364742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52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Frame: 'Meeting Prep was about navigating a ROOM. Catch-Up is about understanding a SITUATION — a customer, a project, a thread. One prompt, seven-section read.'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BUILD (THE RHYTHM IS NOW FAMILIAR — MOVE QUICKER)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1 Name · 2 Description · 3 Instructions (paste whole block)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4 Knowledge: upload 02 + 05; add sources: My emails (Outlook), My Teams chats &amp; meetings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5 Toggles: Search all websites OFF · Only specified sources OFF (same as Meeting Prep)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6 Starter prompts: add all four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TEACHING POINT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Same sources as Meeting Prep — but asks 'where does this stand?' not 'who's in the room?'. Same engine, different question = different agent.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Test: 'Catch me up on Nis.' One prompt only — no follow-up step. Verify 7 sections + an honest 'source gaps' note.</a:t>
            </a:r>
            <a:endParaRPr sz="1100"/>
          </a:p>
        </p:txBody>
      </p:sp>
      <p:sp>
        <p:nvSpPr>
          <p:cNvPr id="449" name="Google Shape;449;p52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450" name="Google Shape;450;p52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Create → New agent → Configure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Paste Name / Desc / Instructions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Upload 02 + 05 · add Outlook + Teams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Toggles: both web OFF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4 starter prompts → Create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Test: 'Catch me up on Nis.'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3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56" name="Google Shape;456;p53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4 · BEFORE WE MOVE ON</a:t>
            </a:r>
            <a:endParaRPr sz="1100"/>
          </a:p>
        </p:txBody>
      </p:sp>
      <p:sp>
        <p:nvSpPr>
          <p:cNvPr id="457" name="Google Shape;457;p53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What you just built — Yettel Catch-Up.</a:t>
            </a:r>
            <a:endParaRPr sz="1100"/>
          </a:p>
        </p:txBody>
      </p:sp>
      <p:cxnSp>
        <p:nvCxnSpPr>
          <p:cNvPr id="458" name="Google Shape;458;p53"/>
          <p:cNvCxnSpPr/>
          <p:nvPr/>
        </p:nvCxnSpPr>
        <p:spPr>
          <a:xfrm>
            <a:off x="596646" y="1419605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p53"/>
          <p:cNvSpPr txBox="1"/>
          <p:nvPr/>
        </p:nvSpPr>
        <p:spPr>
          <a:xfrm>
            <a:off x="582930" y="1748790"/>
            <a:ext cx="795528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SAY THESE THREE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One prompt, structured synthesis across email, calendar, files.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Honest gaps build trust. 'No Teams activity found' is good.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The agent surfaces what you're about to walk into.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5753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Bridge: 'You've built three. Now see one you DON'T build — one that runs without you asking.'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4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65" name="Google Shape;465;p54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5 · AUTONOMOUS DEMO (YOU DEMO THIS)</a:t>
            </a:r>
            <a:endParaRPr sz="1100"/>
          </a:p>
        </p:txBody>
      </p:sp>
      <p:sp>
        <p:nvSpPr>
          <p:cNvPr id="466" name="Google Shape;466;p54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Monday Morning Brief — an agent that brings work to you. Demo only.</a:t>
            </a:r>
            <a:endParaRPr sz="1100"/>
          </a:p>
        </p:txBody>
      </p:sp>
      <p:cxnSp>
        <p:nvCxnSpPr>
          <p:cNvPr id="467" name="Google Shape;467;p54"/>
          <p:cNvCxnSpPr/>
          <p:nvPr/>
        </p:nvCxnSpPr>
        <p:spPr>
          <a:xfrm>
            <a:off x="596646" y="1351026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54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Frame: 'Nobody builds this. I'm showing it. The three you built WAIT for you. This one does the work and brings you the result.'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Runs every Monday 7am. Reads last 48h across Marko's direct reports — emails, calendar, meeting context. Drops a one-page digest in his inbox before the week starts.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Same Microsoft stack — M365 Copilot building blocks + Power Automate as the scheduling layer on top.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FOUR POINTS TO LAND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Same stack — production tier of what you just built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Same idea, more capable engine (yours = prototypes, this = production)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Schedule, not prompt — nobody triggers it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Weeks to build, not minutes — today's agents are the floor, this is the ceiling</a:t>
            </a:r>
            <a:endParaRPr sz="1100"/>
          </a:p>
        </p:txBody>
      </p:sp>
      <p:sp>
        <p:nvSpPr>
          <p:cNvPr id="469" name="Google Shape;469;p54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470" name="Google Shape;470;p54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Show the pre-built Monday Brief output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(if the 7am run fired — verify night before)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FALLBACK: screenshots in the deck folder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›  Show the Power Automate schedule view</a:t>
            </a:r>
            <a:endParaRPr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5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76" name="Google Shape;476;p55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BLOCK 6 · CLOSE</a:t>
            </a:r>
            <a:endParaRPr sz="1100"/>
          </a:p>
        </p:txBody>
      </p:sp>
      <p:sp>
        <p:nvSpPr>
          <p:cNvPr id="477" name="Google Shape;477;p55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What you built. What you saw. What you learned.</a:t>
            </a:r>
            <a:endParaRPr sz="1100"/>
          </a:p>
        </p:txBody>
      </p:sp>
      <p:cxnSp>
        <p:nvCxnSpPr>
          <p:cNvPr id="478" name="Google Shape;478;p55"/>
          <p:cNvCxnSpPr/>
          <p:nvPr/>
        </p:nvCxnSpPr>
        <p:spPr>
          <a:xfrm>
            <a:off x="596646" y="1392174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p55"/>
          <p:cNvSpPr txBox="1"/>
          <p:nvPr/>
        </p:nvSpPr>
        <p:spPr>
          <a:xfrm>
            <a:off x="582930" y="1748790"/>
            <a:ext cx="795528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WHAT YOU BUILT — SAY IT PLAINLY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Three custom agents in two hours: Market Pulse, Meeting Prep, Catch-Up.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WHAT YOU SAW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Two stock agents (Researcher, default chat) for the contrast. One autonomous agent (Monday Brief) that runs without prompting.</a:t>
            </a:r>
            <a:endParaRPr sz="1100"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WHAT YOU LEARNED — THE FIVE (LAND ALL FIVE, BRIEFLY)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Custom agents enforce the rules YOU set — even when users push back. Discipline is the value.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Good agents ask before they act. Specificity is the difference between useful and generic.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M365 agents read your real environment — email, Teams, calendar, files. Not just talk.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Some agents are one prompt; some are stronger as conversations. Knowing when to ask follow-ups is the craft.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7534E"/>
                </a:solidFill>
                <a:latin typeface="Calibri"/>
                <a:ea typeface="Calibri"/>
                <a:cs typeface="Calibri"/>
                <a:sym typeface="Calibri"/>
              </a:rPr>
              <a:t>•  Honest agents say what they didn't find. They don't invent to fill space.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1917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/>
          <p:nvPr/>
        </p:nvSpPr>
        <p:spPr>
          <a:xfrm>
            <a:off x="8375675" y="288036"/>
            <a:ext cx="425196" cy="4251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ACCELER</a:t>
            </a:r>
            <a:endParaRPr sz="1100"/>
          </a:p>
        </p:txBody>
      </p:sp>
      <p:sp>
        <p:nvSpPr>
          <p:cNvPr id="485" name="Google Shape;485;p56"/>
          <p:cNvSpPr txBox="1"/>
          <p:nvPr/>
        </p:nvSpPr>
        <p:spPr>
          <a:xfrm>
            <a:off x="582930" y="425196"/>
            <a:ext cx="61722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MAJOR TAKEAWAY · WHAT TO TAKE TO YOUR TEAMS</a:t>
            </a:r>
            <a:endParaRPr sz="1100"/>
          </a:p>
        </p:txBody>
      </p:sp>
      <p:sp>
        <p:nvSpPr>
          <p:cNvPr id="486" name="Google Shape;486;p56"/>
          <p:cNvSpPr txBox="1"/>
          <p:nvPr/>
        </p:nvSpPr>
        <p:spPr>
          <a:xfrm>
            <a:off x="582930" y="72009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compound value is not the demo. It is what you do Monday.</a:t>
            </a:r>
            <a:endParaRPr sz="1100"/>
          </a:p>
        </p:txBody>
      </p:sp>
      <p:cxnSp>
        <p:nvCxnSpPr>
          <p:cNvPr id="487" name="Google Shape;487;p56"/>
          <p:cNvCxnSpPr/>
          <p:nvPr/>
        </p:nvCxnSpPr>
        <p:spPr>
          <a:xfrm>
            <a:off x="596646" y="1351026"/>
            <a:ext cx="651509" cy="0"/>
          </a:xfrm>
          <a:prstGeom prst="straightConnector1">
            <a:avLst/>
          </a:prstGeom>
          <a:noFill/>
          <a:ln cap="flat" cmpd="sng" w="381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56"/>
          <p:cNvSpPr txBox="1"/>
          <p:nvPr/>
        </p:nvSpPr>
        <p:spPr>
          <a:xfrm>
            <a:off x="582930" y="1748790"/>
            <a:ext cx="528066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THREE CONCRETE ASKS — LAND EACH AS A DIRECTIVE, NOT A SUGGESTION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•  YOURSELF — rebuild Catch-Up on your own account this week. Use it daily for one week. It's the fastest to recreate (~10 min). Then decide which other two to bring across.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•  YOUR TECH TEAM — ask IT/analytics for the autonomous version: 'a Monday Brief like the one I saw, but for my real reports.' That's a few hours of Power Automate work — they have the skills.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•  YOUR NON-TECH TEAM — pick ONE team with a high-volume daily task (retention save desk, B2B account managers, care leads). Sit with them. Help them build a Catch-Up or Meeting Prep for their work. This is where compounding value lives.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D6D3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THE LINE TO END 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•  'Three agents in two hours is the surface. The depth is what you choose to do with the idea. The agents live on workshop accounts — but the patterns travel home in your Companion.'</a:t>
            </a:r>
            <a:endParaRPr sz="1100"/>
          </a:p>
        </p:txBody>
      </p:sp>
      <p:sp>
        <p:nvSpPr>
          <p:cNvPr id="489" name="Google Shape;489;p56"/>
          <p:cNvSpPr txBox="1"/>
          <p:nvPr/>
        </p:nvSpPr>
        <p:spPr>
          <a:xfrm>
            <a:off x="6069330" y="174879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ON THE VM SCREEN</a:t>
            </a:r>
            <a:endParaRPr sz="1100"/>
          </a:p>
        </p:txBody>
      </p:sp>
      <p:sp>
        <p:nvSpPr>
          <p:cNvPr id="490" name="Google Shape;490;p56"/>
          <p:cNvSpPr txBox="1"/>
          <p:nvPr/>
        </p:nvSpPr>
        <p:spPr>
          <a:xfrm>
            <a:off x="6069330" y="2091690"/>
            <a:ext cx="2468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›  (Nothing on VM — face the room)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D6D3D1"/>
                </a:solidFill>
                <a:latin typeface="Calibri"/>
                <a:ea typeface="Calibri"/>
                <a:cs typeface="Calibri"/>
                <a:sym typeface="Calibri"/>
              </a:rPr>
              <a:t>›  Optional: Companion 'after the workshop' page open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